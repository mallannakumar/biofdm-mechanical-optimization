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0" r:id="rId4"/>
    <p:sldId id="278" r:id="rId5"/>
    <p:sldId id="258" r:id="rId6"/>
    <p:sldId id="269" r:id="rId7"/>
    <p:sldId id="268" r:id="rId8"/>
    <p:sldId id="259" r:id="rId9"/>
    <p:sldId id="266" r:id="rId10"/>
    <p:sldId id="280" r:id="rId11"/>
    <p:sldId id="277" r:id="rId12"/>
    <p:sldId id="275" r:id="rId13"/>
    <p:sldId id="271" r:id="rId14"/>
    <p:sldId id="281" r:id="rId15"/>
    <p:sldId id="27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C4D4"/>
    <a:srgbClr val="B3B3B3"/>
    <a:srgbClr val="ED80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228EAC2-289C-4A8A-8476-7E1AC674FDDA}" type="datetimeFigureOut">
              <a:rPr lang="en-US" smtClean="0"/>
              <a:t>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22762D-AB85-4627-B10C-694313D6B77F}" type="slidenum">
              <a:rPr lang="en-US" smtClean="0"/>
              <a:t>‹#›</a:t>
            </a:fld>
            <a:endParaRPr lang="en-US"/>
          </a:p>
        </p:txBody>
      </p:sp>
    </p:spTree>
    <p:extLst>
      <p:ext uri="{BB962C8B-B14F-4D97-AF65-F5344CB8AC3E}">
        <p14:creationId xmlns:p14="http://schemas.microsoft.com/office/powerpoint/2010/main" val="2477100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28EAC2-289C-4A8A-8476-7E1AC674FDDA}" type="datetimeFigureOut">
              <a:rPr lang="en-US" smtClean="0"/>
              <a:t>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22762D-AB85-4627-B10C-694313D6B77F}" type="slidenum">
              <a:rPr lang="en-US" smtClean="0"/>
              <a:t>‹#›</a:t>
            </a:fld>
            <a:endParaRPr lang="en-US"/>
          </a:p>
        </p:txBody>
      </p:sp>
    </p:spTree>
    <p:extLst>
      <p:ext uri="{BB962C8B-B14F-4D97-AF65-F5344CB8AC3E}">
        <p14:creationId xmlns:p14="http://schemas.microsoft.com/office/powerpoint/2010/main" val="2349456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228EAC2-289C-4A8A-8476-7E1AC674FDDA}" type="datetimeFigureOut">
              <a:rPr lang="en-US" smtClean="0"/>
              <a:t>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22762D-AB85-4627-B10C-694313D6B77F}" type="slidenum">
              <a:rPr lang="en-US" smtClean="0"/>
              <a:t>‹#›</a:t>
            </a:fld>
            <a:endParaRPr lang="en-US"/>
          </a:p>
        </p:txBody>
      </p:sp>
    </p:spTree>
    <p:extLst>
      <p:ext uri="{BB962C8B-B14F-4D97-AF65-F5344CB8AC3E}">
        <p14:creationId xmlns:p14="http://schemas.microsoft.com/office/powerpoint/2010/main" val="728391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228EAC2-289C-4A8A-8476-7E1AC674FDDA}" type="datetimeFigureOut">
              <a:rPr lang="en-US" smtClean="0"/>
              <a:t>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22762D-AB85-4627-B10C-694313D6B77F}" type="slidenum">
              <a:rPr lang="en-US" smtClean="0"/>
              <a:t>‹#›</a:t>
            </a:fld>
            <a:endParaRPr lang="en-US"/>
          </a:p>
        </p:txBody>
      </p:sp>
    </p:spTree>
    <p:extLst>
      <p:ext uri="{BB962C8B-B14F-4D97-AF65-F5344CB8AC3E}">
        <p14:creationId xmlns:p14="http://schemas.microsoft.com/office/powerpoint/2010/main" val="1148791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228EAC2-289C-4A8A-8476-7E1AC674FDDA}" type="datetimeFigureOut">
              <a:rPr lang="en-US" smtClean="0"/>
              <a:t>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22762D-AB85-4627-B10C-694313D6B77F}" type="slidenum">
              <a:rPr lang="en-US" smtClean="0"/>
              <a:t>‹#›</a:t>
            </a:fld>
            <a:endParaRPr lang="en-US"/>
          </a:p>
        </p:txBody>
      </p:sp>
    </p:spTree>
    <p:extLst>
      <p:ext uri="{BB962C8B-B14F-4D97-AF65-F5344CB8AC3E}">
        <p14:creationId xmlns:p14="http://schemas.microsoft.com/office/powerpoint/2010/main" val="4100726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228EAC2-289C-4A8A-8476-7E1AC674FDDA}" type="datetimeFigureOut">
              <a:rPr lang="en-US" smtClean="0"/>
              <a:t>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22762D-AB85-4627-B10C-694313D6B77F}" type="slidenum">
              <a:rPr lang="en-US" smtClean="0"/>
              <a:t>‹#›</a:t>
            </a:fld>
            <a:endParaRPr lang="en-US"/>
          </a:p>
        </p:txBody>
      </p:sp>
    </p:spTree>
    <p:extLst>
      <p:ext uri="{BB962C8B-B14F-4D97-AF65-F5344CB8AC3E}">
        <p14:creationId xmlns:p14="http://schemas.microsoft.com/office/powerpoint/2010/main" val="1402497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28EAC2-289C-4A8A-8476-7E1AC674FDDA}" type="datetimeFigureOut">
              <a:rPr lang="en-US" smtClean="0"/>
              <a:t>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22762D-AB85-4627-B10C-694313D6B77F}" type="slidenum">
              <a:rPr lang="en-US" smtClean="0"/>
              <a:t>‹#›</a:t>
            </a:fld>
            <a:endParaRPr lang="en-US"/>
          </a:p>
        </p:txBody>
      </p:sp>
    </p:spTree>
    <p:extLst>
      <p:ext uri="{BB962C8B-B14F-4D97-AF65-F5344CB8AC3E}">
        <p14:creationId xmlns:p14="http://schemas.microsoft.com/office/powerpoint/2010/main" val="2442065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228EAC2-289C-4A8A-8476-7E1AC674FDDA}" type="datetimeFigureOut">
              <a:rPr lang="en-US" smtClean="0"/>
              <a:t>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22762D-AB85-4627-B10C-694313D6B77F}" type="slidenum">
              <a:rPr lang="en-US" smtClean="0"/>
              <a:t>‹#›</a:t>
            </a:fld>
            <a:endParaRPr lang="en-US"/>
          </a:p>
        </p:txBody>
      </p:sp>
    </p:spTree>
    <p:extLst>
      <p:ext uri="{BB962C8B-B14F-4D97-AF65-F5344CB8AC3E}">
        <p14:creationId xmlns:p14="http://schemas.microsoft.com/office/powerpoint/2010/main" val="1313295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228EAC2-289C-4A8A-8476-7E1AC674FDDA}" type="datetimeFigureOut">
              <a:rPr lang="en-US" smtClean="0"/>
              <a:t>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22762D-AB85-4627-B10C-694313D6B77F}" type="slidenum">
              <a:rPr lang="en-US" smtClean="0"/>
              <a:t>‹#›</a:t>
            </a:fld>
            <a:endParaRPr lang="en-US"/>
          </a:p>
        </p:txBody>
      </p:sp>
    </p:spTree>
    <p:extLst>
      <p:ext uri="{BB962C8B-B14F-4D97-AF65-F5344CB8AC3E}">
        <p14:creationId xmlns:p14="http://schemas.microsoft.com/office/powerpoint/2010/main" val="13511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28EAC2-289C-4A8A-8476-7E1AC674FDDA}" type="datetimeFigureOut">
              <a:rPr lang="en-US" smtClean="0"/>
              <a:t>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22762D-AB85-4627-B10C-694313D6B77F}" type="slidenum">
              <a:rPr lang="en-US" smtClean="0"/>
              <a:t>‹#›</a:t>
            </a:fld>
            <a:endParaRPr lang="en-US"/>
          </a:p>
        </p:txBody>
      </p:sp>
    </p:spTree>
    <p:extLst>
      <p:ext uri="{BB962C8B-B14F-4D97-AF65-F5344CB8AC3E}">
        <p14:creationId xmlns:p14="http://schemas.microsoft.com/office/powerpoint/2010/main" val="2286337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28EAC2-289C-4A8A-8476-7E1AC674FDDA}" type="datetimeFigureOut">
              <a:rPr lang="en-US" smtClean="0"/>
              <a:t>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22762D-AB85-4627-B10C-694313D6B77F}" type="slidenum">
              <a:rPr lang="en-US" smtClean="0"/>
              <a:t>‹#›</a:t>
            </a:fld>
            <a:endParaRPr lang="en-US"/>
          </a:p>
        </p:txBody>
      </p:sp>
    </p:spTree>
    <p:extLst>
      <p:ext uri="{BB962C8B-B14F-4D97-AF65-F5344CB8AC3E}">
        <p14:creationId xmlns:p14="http://schemas.microsoft.com/office/powerpoint/2010/main" val="2499838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28EAC2-289C-4A8A-8476-7E1AC674FDDA}" type="datetimeFigureOut">
              <a:rPr lang="en-US" smtClean="0"/>
              <a:t>1/4/2024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22762D-AB85-4627-B10C-694313D6B77F}" type="slidenum">
              <a:rPr lang="en-US" smtClean="0"/>
              <a:t>‹#›</a:t>
            </a:fld>
            <a:endParaRPr lang="en-US"/>
          </a:p>
        </p:txBody>
      </p:sp>
    </p:spTree>
    <p:extLst>
      <p:ext uri="{BB962C8B-B14F-4D97-AF65-F5344CB8AC3E}">
        <p14:creationId xmlns:p14="http://schemas.microsoft.com/office/powerpoint/2010/main" val="15929343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1016/j.compositesb.2016.11.034" TargetMode="External"/><Relationship Id="rId2" Type="http://schemas.openxmlformats.org/officeDocument/2006/relationships/hyperlink" Target="https://doi.org/10.1016/j.matpr.2020.04.335" TargetMode="External"/><Relationship Id="rId1" Type="http://schemas.openxmlformats.org/officeDocument/2006/relationships/slideLayout" Target="../slideLayouts/slideLayout7.xml"/><Relationship Id="rId6" Type="http://schemas.openxmlformats.org/officeDocument/2006/relationships/hyperlink" Target="http://www.elsevier.com/locate/jmbbm" TargetMode="External"/><Relationship Id="rId5" Type="http://schemas.openxmlformats.org/officeDocument/2006/relationships/hyperlink" Target="https://www.elsevier.com/locate/jmbbm" TargetMode="External"/><Relationship Id="rId4" Type="http://schemas.openxmlformats.org/officeDocument/2006/relationships/hyperlink" Target="https://doi.org/10.1016/j.istruc.2022.10.13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90526" y="2186427"/>
            <a:ext cx="10238322" cy="985364"/>
          </a:xfrm>
          <a:solidFill>
            <a:schemeClr val="bg1"/>
          </a:solidFill>
        </p:spPr>
        <p:style>
          <a:lnRef idx="2">
            <a:schemeClr val="dk1"/>
          </a:lnRef>
          <a:fillRef idx="1">
            <a:schemeClr val="lt1"/>
          </a:fillRef>
          <a:effectRef idx="0">
            <a:schemeClr val="dk1"/>
          </a:effectRef>
          <a:fontRef idx="minor">
            <a:schemeClr val="dk1"/>
          </a:fontRef>
        </p:style>
        <p:txBody>
          <a:bodyPr>
            <a:normAutofit fontScale="92500" lnSpcReduction="10000"/>
          </a:bodyPr>
          <a:lstStyle/>
          <a:p>
            <a:endParaRPr lang="en-US" sz="3200" b="1" u="sng" dirty="0"/>
          </a:p>
          <a:p>
            <a:r>
              <a:rPr lang="en-US" sz="3200" b="1" u="sng" dirty="0"/>
              <a:t>Major Project Phase 1- Presentation</a:t>
            </a:r>
          </a:p>
        </p:txBody>
      </p:sp>
      <p:sp>
        <p:nvSpPr>
          <p:cNvPr id="4" name="Rectangle 1"/>
          <p:cNvSpPr>
            <a:spLocks noGrp="1" noChangeArrowheads="1"/>
          </p:cNvSpPr>
          <p:nvPr>
            <p:ph type="ctrTitle"/>
          </p:nvPr>
        </p:nvSpPr>
        <p:spPr bwMode="auto">
          <a:xfrm>
            <a:off x="1090503" y="777187"/>
            <a:ext cx="10238320" cy="1877437"/>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US" altLang="en-US" sz="2400" b="1" dirty="0">
                <a:solidFill>
                  <a:schemeClr val="tx1"/>
                </a:solidFill>
                <a:ea typeface="Times New Roman" panose="02020603050405020304" pitchFamily="18" charset="0"/>
              </a:rPr>
              <a:t>DAYANANDA SAGAR COLLEGE OF ENGINEERING</a:t>
            </a:r>
            <a:br>
              <a:rPr lang="en-US" altLang="en-US" sz="1600" b="1" dirty="0">
                <a:solidFill>
                  <a:schemeClr val="tx1"/>
                </a:solidFill>
                <a:ea typeface="Times New Roman" panose="02020603050405020304" pitchFamily="18" charset="0"/>
              </a:rPr>
            </a:br>
            <a:r>
              <a:rPr lang="en-US" altLang="en-US" sz="1600" b="1" dirty="0">
                <a:solidFill>
                  <a:schemeClr val="tx1"/>
                </a:solidFill>
                <a:ea typeface="Times New Roman" panose="02020603050405020304" pitchFamily="18" charset="0"/>
              </a:rPr>
              <a:t>Shavige Malleshwara Hills, Kumaraswamy Layout, Bangalore-560078</a:t>
            </a:r>
            <a:br>
              <a:rPr lang="en-US" altLang="en-US" sz="1600" b="1" dirty="0">
                <a:solidFill>
                  <a:schemeClr val="tx1"/>
                </a:solidFill>
                <a:ea typeface="Times New Roman" panose="02020603050405020304" pitchFamily="18" charset="0"/>
              </a:rPr>
            </a:br>
            <a:r>
              <a:rPr lang="en-US" altLang="en-US" sz="1600" b="1" dirty="0">
                <a:solidFill>
                  <a:schemeClr val="tx1"/>
                </a:solidFill>
                <a:ea typeface="Times New Roman" panose="02020603050405020304" pitchFamily="18" charset="0"/>
              </a:rPr>
              <a:t>(An Autonomous Institute affiliated to VTU, Approved by AICTE &amp;ISO 9001: 2008 Certified)</a:t>
            </a:r>
            <a:br>
              <a:rPr lang="en-US" altLang="en-US" sz="1600" b="1" dirty="0">
                <a:solidFill>
                  <a:schemeClr val="tx1"/>
                </a:solidFill>
                <a:ea typeface="Times New Roman" panose="02020603050405020304" pitchFamily="18" charset="0"/>
              </a:rPr>
            </a:br>
            <a:r>
              <a:rPr lang="en-US" altLang="en-US" sz="1600" b="1" dirty="0">
                <a:solidFill>
                  <a:schemeClr val="tx1"/>
                </a:solidFill>
                <a:ea typeface="Times New Roman" panose="02020603050405020304" pitchFamily="18" charset="0"/>
              </a:rPr>
              <a:t>Accredited by National Assessment &amp; Accreditation Council (NAAC) with ‘A’ Grade</a:t>
            </a:r>
            <a:br>
              <a:rPr lang="en-US" altLang="en-US" sz="1600" b="1" dirty="0">
                <a:solidFill>
                  <a:schemeClr val="tx1"/>
                </a:solidFill>
                <a:ea typeface="Times New Roman" panose="02020603050405020304" pitchFamily="18" charset="0"/>
              </a:rPr>
            </a:br>
            <a:r>
              <a:rPr lang="en-US" altLang="en-US" sz="2800" b="1" dirty="0">
                <a:solidFill>
                  <a:schemeClr val="tx1"/>
                </a:solidFill>
                <a:ea typeface="Times New Roman" panose="02020603050405020304" pitchFamily="18" charset="0"/>
              </a:rPr>
              <a:t>Department of Mechanical Engineering</a:t>
            </a:r>
            <a:br>
              <a:rPr lang="en-US" altLang="en-US" sz="1600" b="1" dirty="0">
                <a:solidFill>
                  <a:schemeClr val="tx1"/>
                </a:solidFill>
                <a:ea typeface="Times New Roman" panose="02020603050405020304" pitchFamily="18" charset="0"/>
              </a:rPr>
            </a:br>
            <a:r>
              <a:rPr kumimoji="0" lang="en-US" altLang="en-US" sz="1600" b="0" i="0" u="none" strike="noStrike" cap="none" normalizeH="0" baseline="0" dirty="0">
                <a:ln>
                  <a:noFill/>
                </a:ln>
                <a:solidFill>
                  <a:schemeClr val="tx1"/>
                </a:solidFill>
                <a:effectLst/>
                <a:latin typeface="+mn-lt"/>
                <a:ea typeface="Times New Roman" panose="02020603050405020304" pitchFamily="18" charset="0"/>
              </a:rPr>
              <a:t>                                                             </a:t>
            </a:r>
            <a:endParaRPr kumimoji="0" lang="en-US" altLang="en-US" sz="1400" b="0" i="0" u="none" strike="noStrike" cap="none" normalizeH="0" baseline="0" dirty="0">
              <a:ln>
                <a:noFill/>
              </a:ln>
              <a:solidFill>
                <a:schemeClr val="tx1"/>
              </a:solidFill>
              <a:effectLst/>
              <a:latin typeface="+mn-lt"/>
            </a:endParaRPr>
          </a:p>
        </p:txBody>
      </p:sp>
      <p:sp>
        <p:nvSpPr>
          <p:cNvPr id="6" name="TextBox 5"/>
          <p:cNvSpPr txBox="1"/>
          <p:nvPr/>
        </p:nvSpPr>
        <p:spPr>
          <a:xfrm>
            <a:off x="1090504" y="3122822"/>
            <a:ext cx="10238319" cy="1815882"/>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Title:</a:t>
            </a:r>
            <a:r>
              <a:rPr lang="en-US" sz="2000" b="1"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"Optimization and Characterization of Fused Deposition Modelling (FDM) Parameters for Enhanced Mechanical Properties in 3D Printed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material for Biomedical application</a:t>
            </a:r>
            <a:r>
              <a:rPr lang="en-IN" sz="2400" b="1" dirty="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endParaRPr lang="en-US" sz="2000" b="1" dirty="0"/>
          </a:p>
          <a:p>
            <a:endParaRPr lang="en-US" sz="2000" b="1" dirty="0"/>
          </a:p>
        </p:txBody>
      </p:sp>
      <p:graphicFrame>
        <p:nvGraphicFramePr>
          <p:cNvPr id="2" name="Table 4">
            <a:extLst>
              <a:ext uri="{FF2B5EF4-FFF2-40B4-BE49-F238E27FC236}">
                <a16:creationId xmlns:a16="http://schemas.microsoft.com/office/drawing/2014/main" id="{F51B3B7D-1E53-45B2-875A-BC8A7B562DFD}"/>
              </a:ext>
            </a:extLst>
          </p:cNvPr>
          <p:cNvGraphicFramePr>
            <a:graphicFrameLocks noGrp="1"/>
          </p:cNvGraphicFramePr>
          <p:nvPr>
            <p:extLst>
              <p:ext uri="{D42A27DB-BD31-4B8C-83A1-F6EECF244321}">
                <p14:modId xmlns:p14="http://schemas.microsoft.com/office/powerpoint/2010/main" val="812765823"/>
              </p:ext>
            </p:extLst>
          </p:nvPr>
        </p:nvGraphicFramePr>
        <p:xfrm>
          <a:off x="1090503" y="4420115"/>
          <a:ext cx="10238320" cy="1113268"/>
        </p:xfrm>
        <a:graphic>
          <a:graphicData uri="http://schemas.openxmlformats.org/drawingml/2006/table">
            <a:tbl>
              <a:tblPr firstRow="1" bandRow="1">
                <a:tableStyleId>{5940675A-B579-460E-94D1-54222C63F5DA}</a:tableStyleId>
              </a:tblPr>
              <a:tblGrid>
                <a:gridCol w="1671345">
                  <a:extLst>
                    <a:ext uri="{9D8B030D-6E8A-4147-A177-3AD203B41FA5}">
                      <a16:colId xmlns:a16="http://schemas.microsoft.com/office/drawing/2014/main" val="3644077821"/>
                    </a:ext>
                  </a:extLst>
                </a:gridCol>
                <a:gridCol w="8566975">
                  <a:extLst>
                    <a:ext uri="{9D8B030D-6E8A-4147-A177-3AD203B41FA5}">
                      <a16:colId xmlns:a16="http://schemas.microsoft.com/office/drawing/2014/main" val="520701556"/>
                    </a:ext>
                  </a:extLst>
                </a:gridCol>
              </a:tblGrid>
              <a:tr h="488769">
                <a:tc>
                  <a:txBody>
                    <a:bodyPr/>
                    <a:lstStyle/>
                    <a:p>
                      <a:pPr algn="l"/>
                      <a:r>
                        <a:rPr lang="en-US" dirty="0"/>
                        <a:t>Guide Name</a:t>
                      </a:r>
                    </a:p>
                  </a:txBody>
                  <a:tcPr/>
                </a:tc>
                <a:tc>
                  <a:txBody>
                    <a:bodyPr/>
                    <a:lstStyle/>
                    <a:p>
                      <a:r>
                        <a:rPr lang="en-US" sz="1800" b="1" kern="1200" dirty="0">
                          <a:solidFill>
                            <a:schemeClr val="tx1"/>
                          </a:solidFill>
                          <a:effectLst/>
                          <a:latin typeface="+mn-lt"/>
                          <a:ea typeface="+mn-ea"/>
                          <a:cs typeface="+mn-cs"/>
                        </a:rPr>
                        <a:t>Dr. VIVEK BHANDARKAR. V. N</a:t>
                      </a:r>
                      <a:endParaRPr lang="en-US" dirty="0"/>
                    </a:p>
                  </a:txBody>
                  <a:tcPr/>
                </a:tc>
                <a:extLst>
                  <a:ext uri="{0D108BD9-81ED-4DB2-BD59-A6C34878D82A}">
                    <a16:rowId xmlns:a16="http://schemas.microsoft.com/office/drawing/2014/main" val="3131725323"/>
                  </a:ext>
                </a:extLst>
              </a:tr>
              <a:tr h="624499">
                <a:tc>
                  <a:txBody>
                    <a:bodyPr/>
                    <a:lstStyle/>
                    <a:p>
                      <a:pPr algn="l"/>
                      <a:r>
                        <a:rPr lang="en-US" dirty="0"/>
                        <a:t>Designation</a:t>
                      </a:r>
                    </a:p>
                  </a:txBody>
                  <a:tcPr/>
                </a:tc>
                <a:tc>
                  <a:txBody>
                    <a:bodyPr/>
                    <a:lstStyle/>
                    <a:p>
                      <a:r>
                        <a:rPr lang="en-US" sz="1800" b="1" kern="1200" dirty="0">
                          <a:solidFill>
                            <a:schemeClr val="tx1"/>
                          </a:solidFill>
                          <a:effectLst/>
                          <a:latin typeface="+mn-lt"/>
                          <a:ea typeface="+mn-ea"/>
                          <a:cs typeface="+mn-cs"/>
                        </a:rPr>
                        <a:t>Asst. Professor</a:t>
                      </a:r>
                    </a:p>
                  </a:txBody>
                  <a:tcPr/>
                </a:tc>
                <a:extLst>
                  <a:ext uri="{0D108BD9-81ED-4DB2-BD59-A6C34878D82A}">
                    <a16:rowId xmlns:a16="http://schemas.microsoft.com/office/drawing/2014/main" val="1076997139"/>
                  </a:ext>
                </a:extLst>
              </a:tr>
            </a:tbl>
          </a:graphicData>
        </a:graphic>
      </p:graphicFrame>
      <p:graphicFrame>
        <p:nvGraphicFramePr>
          <p:cNvPr id="7" name="Table 6">
            <a:extLst>
              <a:ext uri="{FF2B5EF4-FFF2-40B4-BE49-F238E27FC236}">
                <a16:creationId xmlns:a16="http://schemas.microsoft.com/office/drawing/2014/main" id="{B455C66E-9973-41B9-B20F-4B60C9CBCEF5}"/>
              </a:ext>
            </a:extLst>
          </p:cNvPr>
          <p:cNvGraphicFramePr>
            <a:graphicFrameLocks noGrp="1"/>
          </p:cNvGraphicFramePr>
          <p:nvPr>
            <p:extLst>
              <p:ext uri="{D42A27DB-BD31-4B8C-83A1-F6EECF244321}">
                <p14:modId xmlns:p14="http://schemas.microsoft.com/office/powerpoint/2010/main" val="4133013125"/>
              </p:ext>
            </p:extLst>
          </p:nvPr>
        </p:nvGraphicFramePr>
        <p:xfrm>
          <a:off x="1090503" y="5533111"/>
          <a:ext cx="10238320" cy="1005840"/>
        </p:xfrm>
        <a:graphic>
          <a:graphicData uri="http://schemas.openxmlformats.org/drawingml/2006/table">
            <a:tbl>
              <a:tblPr firstRow="1" bandRow="1">
                <a:tableStyleId>{5940675A-B579-460E-94D1-54222C63F5DA}</a:tableStyleId>
              </a:tblPr>
              <a:tblGrid>
                <a:gridCol w="1662015">
                  <a:extLst>
                    <a:ext uri="{9D8B030D-6E8A-4147-A177-3AD203B41FA5}">
                      <a16:colId xmlns:a16="http://schemas.microsoft.com/office/drawing/2014/main" val="1065001838"/>
                    </a:ext>
                  </a:extLst>
                </a:gridCol>
                <a:gridCol w="1546092">
                  <a:extLst>
                    <a:ext uri="{9D8B030D-6E8A-4147-A177-3AD203B41FA5}">
                      <a16:colId xmlns:a16="http://schemas.microsoft.com/office/drawing/2014/main" val="1447503672"/>
                    </a:ext>
                  </a:extLst>
                </a:gridCol>
                <a:gridCol w="2413262">
                  <a:extLst>
                    <a:ext uri="{9D8B030D-6E8A-4147-A177-3AD203B41FA5}">
                      <a16:colId xmlns:a16="http://schemas.microsoft.com/office/drawing/2014/main" val="4280582233"/>
                    </a:ext>
                  </a:extLst>
                </a:gridCol>
                <a:gridCol w="2507529">
                  <a:extLst>
                    <a:ext uri="{9D8B030D-6E8A-4147-A177-3AD203B41FA5}">
                      <a16:colId xmlns:a16="http://schemas.microsoft.com/office/drawing/2014/main" val="2090501975"/>
                    </a:ext>
                  </a:extLst>
                </a:gridCol>
                <a:gridCol w="2109422">
                  <a:extLst>
                    <a:ext uri="{9D8B030D-6E8A-4147-A177-3AD203B41FA5}">
                      <a16:colId xmlns:a16="http://schemas.microsoft.com/office/drawing/2014/main" val="1859574839"/>
                    </a:ext>
                  </a:extLst>
                </a:gridCol>
              </a:tblGrid>
              <a:tr h="3954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Student Name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Mallanna</a:t>
                      </a:r>
                    </a:p>
                  </a:txBody>
                  <a:tcPr/>
                </a:tc>
                <a:tc>
                  <a:txBody>
                    <a:bodyPr/>
                    <a:lstStyle/>
                    <a:p>
                      <a:pPr algn="ctr"/>
                      <a:r>
                        <a:rPr lang="en-US" dirty="0"/>
                        <a:t> </a:t>
                      </a:r>
                      <a:r>
                        <a:rPr lang="en-US" sz="1800" kern="1200" dirty="0">
                          <a:solidFill>
                            <a:schemeClr val="tx1"/>
                          </a:solidFill>
                          <a:effectLst/>
                          <a:latin typeface="+mn-lt"/>
                          <a:ea typeface="+mn-ea"/>
                          <a:cs typeface="+mn-cs"/>
                        </a:rPr>
                        <a:t>Naveenakumar      Annennanavar</a:t>
                      </a:r>
                      <a:r>
                        <a:rPr lang="en-US" dirty="0"/>
                        <a:t> </a:t>
                      </a:r>
                    </a:p>
                  </a:txBody>
                  <a:tcPr/>
                </a:tc>
                <a:tc>
                  <a:txBody>
                    <a:bodyPr/>
                    <a:lstStyle/>
                    <a:p>
                      <a:pPr algn="ctr"/>
                      <a:r>
                        <a:rPr lang="en-US" sz="1800" kern="1200" dirty="0">
                          <a:solidFill>
                            <a:schemeClr val="tx1"/>
                          </a:solidFill>
                          <a:effectLst/>
                          <a:latin typeface="+mn-lt"/>
                          <a:ea typeface="+mn-ea"/>
                          <a:cs typeface="+mn-cs"/>
                        </a:rPr>
                        <a:t>Rakesha K P</a:t>
                      </a:r>
                      <a:endParaRPr lang="en-US" dirty="0"/>
                    </a:p>
                  </a:txBody>
                  <a:tcPr/>
                </a:tc>
                <a:tc>
                  <a:txBody>
                    <a:bodyPr/>
                    <a:lstStyle/>
                    <a:p>
                      <a:pPr algn="ctr"/>
                      <a:r>
                        <a:rPr lang="en-US" sz="1800" kern="1200" dirty="0">
                          <a:solidFill>
                            <a:schemeClr val="tx1"/>
                          </a:solidFill>
                          <a:effectLst/>
                          <a:latin typeface="+mn-lt"/>
                          <a:ea typeface="+mn-ea"/>
                          <a:cs typeface="+mn-cs"/>
                        </a:rPr>
                        <a:t>Sudarshan N D</a:t>
                      </a:r>
                      <a:endParaRPr lang="en-US" dirty="0"/>
                    </a:p>
                  </a:txBody>
                  <a:tcPr/>
                </a:tc>
                <a:extLst>
                  <a:ext uri="{0D108BD9-81ED-4DB2-BD59-A6C34878D82A}">
                    <a16:rowId xmlns:a16="http://schemas.microsoft.com/office/drawing/2014/main" val="914668678"/>
                  </a:ext>
                </a:extLst>
              </a:tr>
              <a:tr h="353985">
                <a:tc>
                  <a:txBody>
                    <a:bodyPr/>
                    <a:lstStyle/>
                    <a:p>
                      <a:pPr algn="l"/>
                      <a:r>
                        <a:rPr lang="en-US" dirty="0"/>
                        <a:t>USN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1DS20ME044</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1DS20ME420</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1DS21ME455</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1DS21ME478</a:t>
                      </a:r>
                      <a:endParaRPr lang="en-US" dirty="0"/>
                    </a:p>
                  </a:txBody>
                  <a:tcPr/>
                </a:tc>
                <a:extLst>
                  <a:ext uri="{0D108BD9-81ED-4DB2-BD59-A6C34878D82A}">
                    <a16:rowId xmlns:a16="http://schemas.microsoft.com/office/drawing/2014/main" val="4162616864"/>
                  </a:ext>
                </a:extLst>
              </a:tr>
            </a:tbl>
          </a:graphicData>
        </a:graphic>
      </p:graphicFrame>
      <p:graphicFrame>
        <p:nvGraphicFramePr>
          <p:cNvPr id="8" name="Table 7">
            <a:extLst>
              <a:ext uri="{FF2B5EF4-FFF2-40B4-BE49-F238E27FC236}">
                <a16:creationId xmlns:a16="http://schemas.microsoft.com/office/drawing/2014/main" id="{CB927293-C670-4D19-9C46-D52A3332BCE7}"/>
              </a:ext>
            </a:extLst>
          </p:cNvPr>
          <p:cNvGraphicFramePr>
            <a:graphicFrameLocks noGrp="1"/>
          </p:cNvGraphicFramePr>
          <p:nvPr>
            <p:extLst>
              <p:ext uri="{D42A27DB-BD31-4B8C-83A1-F6EECF244321}">
                <p14:modId xmlns:p14="http://schemas.microsoft.com/office/powerpoint/2010/main" val="1602237398"/>
              </p:ext>
            </p:extLst>
          </p:nvPr>
        </p:nvGraphicFramePr>
        <p:xfrm>
          <a:off x="10255218" y="821969"/>
          <a:ext cx="1073618" cy="1828800"/>
        </p:xfrm>
        <a:graphic>
          <a:graphicData uri="http://schemas.openxmlformats.org/drawingml/2006/table">
            <a:tbl>
              <a:tblPr/>
              <a:tblGrid>
                <a:gridCol w="1073618">
                  <a:extLst>
                    <a:ext uri="{9D8B030D-6E8A-4147-A177-3AD203B41FA5}">
                      <a16:colId xmlns:a16="http://schemas.microsoft.com/office/drawing/2014/main" val="768083958"/>
                    </a:ext>
                  </a:extLst>
                </a:gridCol>
              </a:tblGrid>
              <a:tr h="1828800">
                <a:tc>
                  <a:txBody>
                    <a:bodyPr/>
                    <a:lstStyle/>
                    <a:p>
                      <a:pPr algn="ctr"/>
                      <a:r>
                        <a:rPr lang="en-US" dirty="0"/>
                        <a:t> </a:t>
                      </a:r>
                      <a:r>
                        <a:rPr lang="en-US" sz="2000" b="1" dirty="0"/>
                        <a:t>Batch </a:t>
                      </a:r>
                    </a:p>
                    <a:p>
                      <a:pPr algn="ctr"/>
                      <a:r>
                        <a:rPr lang="en-US" sz="2000" b="1" dirty="0"/>
                        <a:t>Number</a:t>
                      </a:r>
                    </a:p>
                    <a:p>
                      <a:pPr algn="ctr"/>
                      <a:endParaRPr lang="en-US" sz="2000" b="1" dirty="0"/>
                    </a:p>
                    <a:p>
                      <a:pPr algn="ctr"/>
                      <a:r>
                        <a:rPr lang="en-US" sz="2800" b="1" dirty="0"/>
                        <a:t>19</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990227761"/>
                  </a:ext>
                </a:extLst>
              </a:tr>
            </a:tbl>
          </a:graphicData>
        </a:graphic>
      </p:graphicFrame>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93533" y="1096734"/>
            <a:ext cx="1157662" cy="1171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6205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7814" y="0"/>
            <a:ext cx="10515600" cy="544945"/>
          </a:xfrm>
        </p:spPr>
        <p:txBody>
          <a:bodyPr>
            <a:normAutofit fontScale="90000"/>
          </a:bodyPr>
          <a:lstStyle/>
          <a:p>
            <a:r>
              <a:rPr lang="en-US" b="1" u="sng" dirty="0"/>
              <a:t>Abstract</a:t>
            </a:r>
            <a:r>
              <a:rPr lang="en-US" u="sng" dirty="0"/>
              <a:t> :</a:t>
            </a:r>
          </a:p>
        </p:txBody>
      </p:sp>
      <p:sp>
        <p:nvSpPr>
          <p:cNvPr id="5" name="TextBox 4">
            <a:extLst>
              <a:ext uri="{FF2B5EF4-FFF2-40B4-BE49-F238E27FC236}">
                <a16:creationId xmlns:a16="http://schemas.microsoft.com/office/drawing/2014/main" id="{2F2D5A46-FF53-0717-E022-8934298A2D7F}"/>
              </a:ext>
            </a:extLst>
          </p:cNvPr>
          <p:cNvSpPr txBox="1"/>
          <p:nvPr/>
        </p:nvSpPr>
        <p:spPr>
          <a:xfrm>
            <a:off x="227814" y="854828"/>
            <a:ext cx="11618926" cy="5103513"/>
          </a:xfrm>
          <a:prstGeom prst="rect">
            <a:avLst/>
          </a:prstGeom>
          <a:noFill/>
        </p:spPr>
        <p:txBody>
          <a:bodyPr wrap="square">
            <a:spAutoFit/>
          </a:bodyPr>
          <a:lstStyle/>
          <a:p>
            <a:pPr algn="just">
              <a:lnSpc>
                <a:spcPct val="150000"/>
              </a:lnSpc>
              <a:spcAft>
                <a:spcPts val="800"/>
              </a:spcAft>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Additive manufacturing (AM) is the procedure in which parts are fabricated in a layer-by-layer manner, exactly the opposite of conventional manufacturing, in which material is removed. Nowadays, additive manufacturing is usually preferable over traditional manufacturing methods owing to its better accuracy, less time for manufacturing, lower cost, and good quality of products.</a:t>
            </a:r>
            <a:endParaRPr lang="en-IN" sz="1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In Fused Deposition Modeling (FDM) three-dimensional (3D) printed part is greatly affected by the process parameters, therefore the parameters have to select properly to enhance the characteristics of the final product. </a:t>
            </a:r>
            <a:r>
              <a:rPr lang="en-IN" sz="1500" kern="100" dirty="0">
                <a:effectLst/>
                <a:latin typeface="Times New Roman" panose="02020603050405020304" pitchFamily="18" charset="0"/>
                <a:ea typeface="Calibri" panose="020F0502020204030204" pitchFamily="34" charset="0"/>
                <a:cs typeface="Times New Roman" panose="02020603050405020304" pitchFamily="18" charset="0"/>
              </a:rPr>
              <a:t>The fused deposition modelling (FDM) technique is widely used to produce components for various applications and has the potential to revolutionize orthopaedic research through the production of custom-fit and readily available biomedical implants. The properties of FDM-produced implants are significantly influenced by processing parameters, with layer thickness being a crucial parameter. The effect of these parameters will be  studied  o</a:t>
            </a: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n tensile strength and flexural strength , experimentally and statistically.  </a:t>
            </a:r>
            <a:endParaRPr lang="en-IN" sz="1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1500" kern="100" dirty="0">
                <a:effectLst/>
                <a:latin typeface="Times New Roman" panose="02020603050405020304" pitchFamily="18" charset="0"/>
                <a:ea typeface="Calibri" panose="020F0502020204030204" pitchFamily="34" charset="0"/>
                <a:cs typeface="Times New Roman" panose="02020603050405020304" pitchFamily="18" charset="0"/>
              </a:rPr>
              <a:t>The building parameters of three-dimensional (3D) printed composite bone plates will be optimized by an orthogonal experiment, and the effects of the layer thickness, printing speed, filament feeding speed, and biomedical content on the bending strengths and tensile strength of the specimens will be analysed. </a:t>
            </a: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Based on Taguchi’s mixed model fractional factorial design(L27), experiments will be set and the specimens are printed on FDM 3D printer and tested for tensile strength and flexural strength. Thereafter, the optimal combination of the parameters will be selected using Signal-to-Noise ratio (S/N), and Analysis of Variance (ANOVA) is used for indicating the significant parameters and their effect on tensile strength and flexural strength. </a:t>
            </a:r>
            <a:endParaRPr lang="en-IN" sz="15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04214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FFEF-8EF7-63C1-21DA-B81539F763FA}"/>
              </a:ext>
            </a:extLst>
          </p:cNvPr>
          <p:cNvSpPr>
            <a:spLocks noGrp="1"/>
          </p:cNvSpPr>
          <p:nvPr>
            <p:ph type="ctrTitle"/>
          </p:nvPr>
        </p:nvSpPr>
        <p:spPr>
          <a:xfrm>
            <a:off x="131785" y="249382"/>
            <a:ext cx="9144000" cy="631522"/>
          </a:xfrm>
        </p:spPr>
        <p:txBody>
          <a:bodyPr>
            <a:normAutofit fontScale="90000"/>
          </a:bodyPr>
          <a:lstStyle/>
          <a:p>
            <a:pPr algn="l"/>
            <a:r>
              <a:rPr lang="en-IN" sz="4400" b="1" u="sng" dirty="0"/>
              <a:t>Introduction</a:t>
            </a:r>
            <a:r>
              <a:rPr lang="en-IN" u="sng" dirty="0"/>
              <a:t>:</a:t>
            </a:r>
          </a:p>
        </p:txBody>
      </p:sp>
      <p:sp>
        <p:nvSpPr>
          <p:cNvPr id="3" name="Subtitle 2">
            <a:extLst>
              <a:ext uri="{FF2B5EF4-FFF2-40B4-BE49-F238E27FC236}">
                <a16:creationId xmlns:a16="http://schemas.microsoft.com/office/drawing/2014/main" id="{CAFB4A40-88F4-149A-C024-90D67F40F711}"/>
              </a:ext>
            </a:extLst>
          </p:cNvPr>
          <p:cNvSpPr>
            <a:spLocks noGrp="1"/>
          </p:cNvSpPr>
          <p:nvPr>
            <p:ph type="subTitle" idx="1"/>
          </p:nvPr>
        </p:nvSpPr>
        <p:spPr>
          <a:xfrm>
            <a:off x="275663" y="880904"/>
            <a:ext cx="11611537" cy="5806223"/>
          </a:xfrm>
        </p:spPr>
        <p:txBody>
          <a:bodyPr>
            <a:normAutofit fontScale="92500" lnSpcReduction="10000"/>
          </a:bodyPr>
          <a:lstStyle/>
          <a:p>
            <a:pPr algn="just">
              <a:lnSpc>
                <a:spcPct val="150000"/>
              </a:lnSpc>
            </a:pPr>
            <a:r>
              <a:rPr lang="en-US" sz="1800" dirty="0">
                <a:latin typeface="Times New Roman" panose="02020603050405020304" pitchFamily="18" charset="0"/>
                <a:cs typeface="Times New Roman" panose="02020603050405020304" pitchFamily="18" charset="0"/>
              </a:rPr>
              <a:t>Contrary to subtractive manufacturing, additive manufacturing (AM), often known as 3D printing, is a method of fabricating items by connecting data from 3D models, and it is typically carried out layer by layer. The design and manufacturing processes can be improved in terms of speed and flexibility due to this technology. Additionally, traditional manufacturing methods need a lot of time and money to generate complex shapes, therefore 3D printing machines are employed in many industries to create custom parts during the design phase. However, this technology's rapid progress resulted in the production of end-use components. The 3D printing technique can reduce wasteful material use, labor-intensive processes, and production costs. The final product's shape is set by a computer-aided design (CAD) file in this method, making design modification a effortless procedure. A important element of the fourth industrial revolution that reduces physical movement is 3D printing.</a:t>
            </a:r>
          </a:p>
          <a:p>
            <a:pPr algn="just">
              <a:lnSpc>
                <a:spcPct val="150000"/>
              </a:lnSpc>
            </a:pPr>
            <a:r>
              <a:rPr lang="en-US" sz="1800" dirty="0">
                <a:latin typeface="Times New Roman" panose="02020603050405020304" pitchFamily="18" charset="0"/>
                <a:cs typeface="Times New Roman" panose="02020603050405020304" pitchFamily="18" charset="0"/>
              </a:rPr>
              <a:t>Numerous industries, including those in the automotive, aerospace, medical, food, clothing and fashion, electric and electronic, educational, prototype, architectural, chemical, building, and construction sectors, have applications in 3D printing technology. FDM, fused filament fabrication (FFF), stereolithography (SLA), direct jetting, photopolymer jetting, selective laser sintering (SLS), laser melting, electron beam melting, and hybrid processes are a few categories of AM. FDM technology is the most well-known of these 3D printer technologies since it is simple, affordable, and has a wide variety of commercially available raw materials. It can be used as a machine for continuous production and provides flexibility and friendliness in processing and material handling.</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191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FFEF-8EF7-63C1-21DA-B81539F763FA}"/>
              </a:ext>
            </a:extLst>
          </p:cNvPr>
          <p:cNvSpPr>
            <a:spLocks noGrp="1"/>
          </p:cNvSpPr>
          <p:nvPr>
            <p:ph type="ctrTitle"/>
          </p:nvPr>
        </p:nvSpPr>
        <p:spPr>
          <a:xfrm>
            <a:off x="131785" y="249382"/>
            <a:ext cx="9144000" cy="631522"/>
          </a:xfrm>
        </p:spPr>
        <p:txBody>
          <a:bodyPr>
            <a:normAutofit fontScale="90000"/>
          </a:bodyPr>
          <a:lstStyle/>
          <a:p>
            <a:pPr algn="l"/>
            <a:r>
              <a:rPr lang="en-IN" sz="4400" b="1" u="sng" dirty="0"/>
              <a:t>Introduction</a:t>
            </a:r>
            <a:r>
              <a:rPr lang="en-IN" u="sng" dirty="0"/>
              <a:t>:</a:t>
            </a:r>
          </a:p>
        </p:txBody>
      </p:sp>
      <p:sp>
        <p:nvSpPr>
          <p:cNvPr id="3" name="Subtitle 2">
            <a:extLst>
              <a:ext uri="{FF2B5EF4-FFF2-40B4-BE49-F238E27FC236}">
                <a16:creationId xmlns:a16="http://schemas.microsoft.com/office/drawing/2014/main" id="{CAFB4A40-88F4-149A-C024-90D67F40F711}"/>
              </a:ext>
            </a:extLst>
          </p:cNvPr>
          <p:cNvSpPr>
            <a:spLocks noGrp="1"/>
          </p:cNvSpPr>
          <p:nvPr>
            <p:ph type="subTitle" idx="1"/>
          </p:nvPr>
        </p:nvSpPr>
        <p:spPr>
          <a:xfrm>
            <a:off x="275663" y="880904"/>
            <a:ext cx="11611537" cy="5806223"/>
          </a:xfrm>
        </p:spPr>
        <p:txBody>
          <a:bodyPr>
            <a:normAutofit/>
          </a:bodyPr>
          <a:lstStyle/>
          <a:p>
            <a:pPr algn="just">
              <a:lnSpc>
                <a:spcPct val="150000"/>
              </a:lnSpc>
            </a:pPr>
            <a:r>
              <a:rPr lang="en-US" sz="1700" dirty="0">
                <a:latin typeface="Times New Roman" panose="02020603050405020304" pitchFamily="18" charset="0"/>
                <a:cs typeface="Times New Roman" panose="02020603050405020304" pitchFamily="18" charset="0"/>
              </a:rPr>
              <a:t>Utilizing additive manufacturing (AM) in orthopedics represents a primary application of this technology in the medical field, with a notable focus on personalized implants through 3D printing. Orthopedic implants include a range of applications, including trauma implants (such as plates and screws), spinal implants (e.g., artificial vertebral bodies and cages), joint implants (e.g., artificial hip and knee joints), as well as customized prostheses (e.g., scapular, chest, and rib prostheses), and scaffolds for bone tissue engineering.</a:t>
            </a:r>
            <a:endParaRPr lang="en-IN" sz="1700" dirty="0">
              <a:latin typeface="Times New Roman" panose="02020603050405020304" pitchFamily="18" charset="0"/>
              <a:cs typeface="Times New Roman" panose="02020603050405020304" pitchFamily="18" charset="0"/>
            </a:endParaRPr>
          </a:p>
          <a:p>
            <a:pPr algn="just">
              <a:lnSpc>
                <a:spcPct val="150000"/>
              </a:lnSpc>
            </a:pPr>
            <a:r>
              <a:rPr lang="en-US" sz="1700" dirty="0">
                <a:latin typeface="Times New Roman" panose="02020603050405020304" pitchFamily="18" charset="0"/>
                <a:cs typeface="Times New Roman" panose="02020603050405020304" pitchFamily="18" charset="0"/>
              </a:rPr>
              <a:t>Polylactic acid (PLA), a promising polymer due to its high biocompatibility and biodegradability, finds application in various biomedical contexts, including the creation of degradable scaffolds, bone plates, and other implants. However, non-degradable bone plates, made from materials like PLA, often require removal post-fracture healing, subjecting patients to additional surgeries. To address this, researchers have explored composite materials, incorporating bio ceramic particles like hydroxyapatite (HA), Polyether ether ketone (PEEK). These enhances implant biocompatibility, bone integration, and creates a slightly alkaline environment during degradation, reducing the risk of aseptic inflammation.</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6231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24" y="0"/>
            <a:ext cx="10515600" cy="1325563"/>
          </a:xfrm>
        </p:spPr>
        <p:txBody>
          <a:bodyPr/>
          <a:lstStyle/>
          <a:p>
            <a:r>
              <a:rPr lang="en-US" b="1" u="sng" dirty="0"/>
              <a:t>Literature survey </a:t>
            </a:r>
            <a:r>
              <a:rPr lang="en-US" u="sng" dirty="0"/>
              <a:t>:</a:t>
            </a:r>
          </a:p>
        </p:txBody>
      </p:sp>
      <p:sp>
        <p:nvSpPr>
          <p:cNvPr id="3" name="Content Placeholder 2"/>
          <p:cNvSpPr>
            <a:spLocks noGrp="1"/>
          </p:cNvSpPr>
          <p:nvPr>
            <p:ph idx="1"/>
          </p:nvPr>
        </p:nvSpPr>
        <p:spPr>
          <a:xfrm>
            <a:off x="414779" y="1156228"/>
            <a:ext cx="11199044" cy="5411322"/>
          </a:xfrm>
        </p:spPr>
        <p:txBody>
          <a:bodyPr>
            <a:normAutofit/>
          </a:bodyPr>
          <a:lstStyle/>
          <a:p>
            <a:pPr marL="0" lvl="0" indent="0" algn="just">
              <a:lnSpc>
                <a:spcPct val="107000"/>
              </a:lnSpc>
              <a:buNone/>
            </a:pPr>
            <a:r>
              <a:rPr lang="en-IN" sz="1800" b="1" dirty="0">
                <a:latin typeface="Times New Roman" panose="02020603050405020304" pitchFamily="18" charset="0"/>
                <a:ea typeface="Calibri" panose="020F0502020204030204" pitchFamily="34" charset="0"/>
                <a:cs typeface="Times New Roman" panose="02020603050405020304" pitchFamily="18" charset="0"/>
              </a:rPr>
              <a:t>1. </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Balwant Singh</a:t>
            </a:r>
            <a:r>
              <a:rPr lang="en-IN" sz="1800" b="1" dirty="0">
                <a:latin typeface="Times New Roman" panose="02020603050405020304" pitchFamily="18" charset="0"/>
                <a:ea typeface="Calibri" panose="020F0502020204030204" pitchFamily="34" charset="0"/>
                <a:cs typeface="Times New Roman" panose="02020603050405020304" pitchFamily="18" charset="0"/>
              </a:rPr>
              <a:t> </a:t>
            </a:r>
            <a:r>
              <a:rPr lang="en-IN" sz="1800" dirty="0">
                <a:latin typeface="Times New Roman" panose="02020603050405020304" pitchFamily="18" charset="0"/>
                <a:ea typeface="Calibri" panose="020F0502020204030204" pitchFamily="34" charset="0"/>
                <a:cs typeface="Times New Roman" panose="02020603050405020304" pitchFamily="18" charset="0"/>
              </a:rPr>
              <a:t>et. al.,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Through a comprehensive literature review, this research attempted to identify the various Polymer Matrix Composite (PMC) materials utilised in 3D printing. This study investigates the mechanical properties and other properties of composites created using 3D printing processes. And also, the influence of various composite materials and production procedures on mechanical characteristics has been compared. Hybrid materials can be employed to improve the end product's mechanical, tribological, and morphological qualities. The findings might serve as a model for future researchers interested in composite material development. </a:t>
            </a:r>
          </a:p>
          <a:p>
            <a:pPr marL="0" lvl="0" indent="0" algn="just">
              <a:lnSpc>
                <a:spcPct val="107000"/>
              </a:lnSpc>
              <a:buNone/>
            </a:pP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buNone/>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2. Xin Wang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et. </a:t>
            </a:r>
            <a:r>
              <a:rPr lang="en-IN" sz="1800" dirty="0">
                <a:latin typeface="Times New Roman" panose="02020603050405020304" pitchFamily="18" charset="0"/>
                <a:ea typeface="Calibri" panose="020F0502020204030204" pitchFamily="34" charset="0"/>
                <a:cs typeface="Times New Roman" panose="02020603050405020304" pitchFamily="18" charset="0"/>
              </a:rPr>
              <a:t>a</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l., conducted research on polymer composite material 3D printing techniques such as fused deposition modelling, selective laser sintering, inkjet 3D printing, stereolithography, and 3D plotting. The technology for creating and performing particle, fiber, and nanomaterial-reinforced polymer composites is highlighted. They demonstrated the printability of the glass fibre and carbon fibre composite compositions created in this study using 3D models. They have also discussed potential applications in biomedical, electronics, and aerospace engineering.</a:t>
            </a:r>
          </a:p>
          <a:p>
            <a:pPr marL="0" lvl="0" indent="0">
              <a:lnSpc>
                <a:spcPct val="107000"/>
              </a:lnSpc>
              <a:buNone/>
            </a:pP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buSzPct val="120000"/>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7791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7DD84A-7F00-0503-4EDB-D9397331C003}"/>
              </a:ext>
            </a:extLst>
          </p:cNvPr>
          <p:cNvSpPr txBox="1"/>
          <p:nvPr/>
        </p:nvSpPr>
        <p:spPr>
          <a:xfrm>
            <a:off x="227815" y="846411"/>
            <a:ext cx="11736370" cy="4966488"/>
          </a:xfrm>
          <a:prstGeom prst="rect">
            <a:avLst/>
          </a:prstGeom>
          <a:noFill/>
        </p:spPr>
        <p:txBody>
          <a:bodyPr wrap="square" rtlCol="0">
            <a:spAutoFit/>
          </a:bodyPr>
          <a:lstStyle/>
          <a:p>
            <a:pPr algn="just">
              <a:lnSpc>
                <a:spcPct val="107000"/>
              </a:lnSpc>
              <a:spcAft>
                <a:spcPts val="800"/>
              </a:spcAf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3. Yahia Halabi </a:t>
            </a:r>
            <a:r>
              <a:rPr lang="en-US" dirty="0">
                <a:effectLst/>
                <a:latin typeface="Times New Roman" panose="02020603050405020304" pitchFamily="18" charset="0"/>
                <a:ea typeface="Calibri" panose="020F0502020204030204" pitchFamily="34" charset="0"/>
                <a:cs typeface="Times New Roman" panose="02020603050405020304" pitchFamily="18" charset="0"/>
              </a:rPr>
              <a:t>et all, experimentally studied the process parameters namely fiber tensile strength, polymer tensile strength, layer thickness, fiber volume fraction, fiber form, infill pattern, and fiber orientation. MATLAB software was used to codify and implement the ABC algorithm and ANN modelling technique. The results shows that good accuracy of this model, R2 values for training, validation, and testing datasets were 0.96, 0.90, and 0.90, respectively; while the RMSE values for training, validation, and testing datasets were 26.71 Mpa, 41.72 Mpa, and 43.64 Mpa. e MAE values for training, validation, and testing datasets were 16.49 Mpa, 28.11 Mpa, and 27.11 Mpa.</a:t>
            </a:r>
          </a:p>
          <a:p>
            <a:pPr algn="just">
              <a:lnSpc>
                <a:spcPct val="107000"/>
              </a:lnSpc>
              <a:spcAft>
                <a:spcPts val="800"/>
              </a:spcAft>
            </a:pP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b="1" dirty="0">
                <a:effectLst/>
                <a:latin typeface="Times New Roman" panose="02020603050405020304" pitchFamily="18" charset="0"/>
                <a:ea typeface="Calibri" panose="020F0502020204030204" pitchFamily="34" charset="0"/>
                <a:cs typeface="Times New Roman" panose="02020603050405020304" pitchFamily="18" charset="0"/>
              </a:rPr>
              <a:t>4. Muammel M. Hanon </a:t>
            </a:r>
            <a:r>
              <a:rPr lang="en-IN" dirty="0">
                <a:effectLst/>
                <a:latin typeface="Times New Roman" panose="02020603050405020304" pitchFamily="18" charset="0"/>
                <a:ea typeface="Calibri" panose="020F0502020204030204" pitchFamily="34" charset="0"/>
                <a:cs typeface="Times New Roman" panose="02020603050405020304" pitchFamily="18" charset="0"/>
              </a:rPr>
              <a:t>et al., looked at the effect of different 3D printing processes on the tensile strength and hardness characteristics of PLA polymer. To create the testing specimens, the fused deposition modelling (FDM) approach was utilised with varied build orientation, raster direction angle, and layer height. Based on the performance obtained from the tested print conditions, a link between hardness and tensile strength was determined. The obtained findings demonstrate that the On-edge orientation samples had the greatest Young's modulus and ultimate tensile strength values of  1.896 ± 0.044 GPa and 49.12 ± 0.78 MPa, The 0.1 mm layer thickness specimen had the highest elongation at break (3.13%). </a:t>
            </a:r>
          </a:p>
          <a:p>
            <a:pPr algn="just">
              <a:lnSpc>
                <a:spcPct val="107000"/>
              </a:lnSpc>
              <a:spcAft>
                <a:spcPts val="800"/>
              </a:spcAft>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buNone/>
            </a:pPr>
            <a:endParaRPr lang="en-IN" sz="2000" dirty="0">
              <a:solidFill>
                <a:srgbClr val="00B050"/>
              </a:solidFill>
            </a:endParaRPr>
          </a:p>
        </p:txBody>
      </p:sp>
    </p:spTree>
    <p:extLst>
      <p:ext uri="{BB962C8B-B14F-4D97-AF65-F5344CB8AC3E}">
        <p14:creationId xmlns:p14="http://schemas.microsoft.com/office/powerpoint/2010/main" val="1741436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1695AF-D282-497C-9012-104515EF4A4A}"/>
              </a:ext>
            </a:extLst>
          </p:cNvPr>
          <p:cNvSpPr txBox="1"/>
          <p:nvPr/>
        </p:nvSpPr>
        <p:spPr>
          <a:xfrm>
            <a:off x="331772" y="254062"/>
            <a:ext cx="11361219" cy="6186309"/>
          </a:xfrm>
          <a:prstGeom prst="rect">
            <a:avLst/>
          </a:prstGeom>
          <a:noFill/>
        </p:spPr>
        <p:txBody>
          <a:bodyPr wrap="square" rtlCol="0">
            <a:spAutoFit/>
          </a:bodyPr>
          <a:lstStyle/>
          <a:p>
            <a:pPr algn="just"/>
            <a:r>
              <a:rPr lang="en-IN" b="1" dirty="0">
                <a:latin typeface="Times New Roman" panose="02020603050405020304" pitchFamily="18" charset="0"/>
                <a:ea typeface="Calibri" panose="020F0502020204030204" pitchFamily="34" charset="0"/>
                <a:cs typeface="Times New Roman" panose="02020603050405020304" pitchFamily="18" charset="0"/>
              </a:rPr>
              <a:t>5. Christine Le </a:t>
            </a:r>
            <a:r>
              <a:rPr lang="en-IN" dirty="0">
                <a:latin typeface="Times New Roman" panose="02020603050405020304" pitchFamily="18" charset="0"/>
                <a:ea typeface="Calibri" panose="020F0502020204030204" pitchFamily="34" charset="0"/>
                <a:cs typeface="Times New Roman" panose="02020603050405020304" pitchFamily="18" charset="0"/>
              </a:rPr>
              <a:t>et all studied the  effect of layer thickness on the flexural properties of Polylactic Acid (PLA) bone plate implants produced by the FDM technique.  Experimental results showed that the flexural strength is inversely proportional to the layer thickness due to the variation of voids in the specimens. A 3D finite element (FE) model was developed using Abaqus/Explicit software by incorporating the Gurson-Tvergaard (GT) porous plasticity model to predict the elastoplastic and damage behaviour of specimens with different layer thicknesses. It was shown that the FE model was able to predict the flexural behaviour of 3D-printed solid plates with a maximum error of 6.13% in the maximum load. The optimal layer height was found to be 0.1 mm, providing both high flexural strength and adequate bending stiffness.</a:t>
            </a:r>
          </a:p>
          <a:p>
            <a:pPr algn="just"/>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gn="just"/>
            <a:r>
              <a:rPr lang="en-IN" b="1" dirty="0">
                <a:latin typeface="Times New Roman" panose="02020603050405020304" pitchFamily="18" charset="0"/>
                <a:ea typeface="Calibri" panose="020F0502020204030204" pitchFamily="34" charset="0"/>
                <a:cs typeface="Times New Roman" panose="02020603050405020304" pitchFamily="18" charset="0"/>
              </a:rPr>
              <a:t>6. Wenzhao Wang </a:t>
            </a:r>
            <a:r>
              <a:rPr lang="en-IN" dirty="0">
                <a:latin typeface="Times New Roman" panose="02020603050405020304" pitchFamily="18" charset="0"/>
                <a:ea typeface="Calibri" panose="020F0502020204030204" pitchFamily="34" charset="0"/>
                <a:cs typeface="Times New Roman" panose="02020603050405020304" pitchFamily="18" charset="0"/>
              </a:rPr>
              <a:t>et all  utilised the fused deposition modelling (FDM) technology to prepare the composite scaffolds of polylactic acid (PLA) and nano-hydroxyapatite (n- HA). The composite scaffold was optimized by material characterization, mechanical property test, and in vitro bone marrow mesenchymal stem cells biocompatibility test. Finally, a rabbit model was established to evaluate the osteogenic ability of PLA/n-HA scaffolds in vivo. The results indicated  that the PLA/n-HA composites proposed in this study were highly printable, and the printed scaffold showed tunable mechanical strength accompanied by the proportion of n-HA components. The biocompatibility and osteogenic induction properties were proved better than that of the pure PLA scaffold. </a:t>
            </a:r>
          </a:p>
          <a:p>
            <a:pPr algn="just"/>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gn="just"/>
            <a:r>
              <a:rPr lang="en-IN" b="1" dirty="0">
                <a:latin typeface="Times New Roman" panose="02020603050405020304" pitchFamily="18" charset="0"/>
                <a:ea typeface="Calibri" panose="020F0502020204030204" pitchFamily="34" charset="0"/>
                <a:cs typeface="Times New Roman" panose="02020603050405020304" pitchFamily="18" charset="0"/>
              </a:rPr>
              <a:t>7. Prairit Sharma </a:t>
            </a:r>
            <a:r>
              <a:rPr lang="en-IN" dirty="0">
                <a:latin typeface="Times New Roman" panose="02020603050405020304" pitchFamily="18" charset="0"/>
                <a:ea typeface="Calibri" panose="020F0502020204030204" pitchFamily="34" charset="0"/>
                <a:cs typeface="Times New Roman" panose="02020603050405020304" pitchFamily="18" charset="0"/>
              </a:rPr>
              <a:t>et all studied the impact of significant parameters on the dimensional accuracy for different geometries such as cylindrical shafts, holes and rectangular slots. Predicting the dimensional variation is accomplished by using Decision Tree Machine Learning Algorithm. This algorithm's result is most suitable and provides accurate predictions; furthermore, the effectiveness of the model developed is validated by the R2 score of 0.67, the model can be further developed to establish industry-friendly functionality.</a:t>
            </a:r>
          </a:p>
        </p:txBody>
      </p:sp>
    </p:spTree>
    <p:extLst>
      <p:ext uri="{BB962C8B-B14F-4D97-AF65-F5344CB8AC3E}">
        <p14:creationId xmlns:p14="http://schemas.microsoft.com/office/powerpoint/2010/main" val="1164913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587" y="147782"/>
            <a:ext cx="10515600" cy="665018"/>
          </a:xfrm>
        </p:spPr>
        <p:txBody>
          <a:bodyPr>
            <a:normAutofit fontScale="90000"/>
          </a:bodyPr>
          <a:lstStyle/>
          <a:p>
            <a:r>
              <a:rPr lang="en-US" b="1" u="sng" dirty="0"/>
              <a:t>Objectives</a:t>
            </a:r>
            <a:r>
              <a:rPr lang="en-US" u="sng" dirty="0"/>
              <a:t> :</a:t>
            </a:r>
            <a:endParaRPr lang="en-US" dirty="0"/>
          </a:p>
        </p:txBody>
      </p:sp>
      <p:sp>
        <p:nvSpPr>
          <p:cNvPr id="3" name="Content Placeholder 2"/>
          <p:cNvSpPr>
            <a:spLocks noGrp="1"/>
          </p:cNvSpPr>
          <p:nvPr>
            <p:ph idx="1"/>
          </p:nvPr>
        </p:nvSpPr>
        <p:spPr>
          <a:xfrm>
            <a:off x="332175" y="998918"/>
            <a:ext cx="11527649" cy="5620368"/>
          </a:xfrm>
        </p:spPr>
        <p:txBody>
          <a:bodyPr>
            <a:normAutofit fontScale="85000" lnSpcReduction="10000"/>
          </a:bodyPr>
          <a:lstStyle/>
          <a:p>
            <a:pPr lvl="0" algn="just">
              <a:lnSpc>
                <a:spcPct val="170000"/>
              </a:lnSpc>
            </a:pPr>
            <a:r>
              <a:rPr lang="en-US" sz="2200" dirty="0">
                <a:latin typeface="Times New Roman" panose="02020603050405020304" pitchFamily="18" charset="0"/>
                <a:cs typeface="Times New Roman" panose="02020603050405020304" pitchFamily="18" charset="0"/>
              </a:rPr>
              <a:t>Modelling and 3D Printing the specimen using Fused Deposition Modeling (FDM).</a:t>
            </a:r>
            <a:endParaRPr lang="en-IN" sz="2200" dirty="0">
              <a:latin typeface="Times New Roman" panose="02020603050405020304" pitchFamily="18" charset="0"/>
              <a:cs typeface="Times New Roman" panose="02020603050405020304" pitchFamily="18" charset="0"/>
            </a:endParaRPr>
          </a:p>
          <a:p>
            <a:pPr lvl="0" algn="just">
              <a:lnSpc>
                <a:spcPct val="170000"/>
              </a:lnSpc>
            </a:pPr>
            <a:r>
              <a:rPr lang="en-US" sz="2200" dirty="0">
                <a:latin typeface="Times New Roman" panose="02020603050405020304" pitchFamily="18" charset="0"/>
                <a:cs typeface="Times New Roman" panose="02020603050405020304" pitchFamily="18" charset="0"/>
              </a:rPr>
              <a:t> To assess the mechanical properties like tensile strength, flexural strength and hardness of the 3D Printed specimen.</a:t>
            </a:r>
            <a:endParaRPr lang="en-IN" sz="2200" dirty="0">
              <a:latin typeface="Times New Roman" panose="02020603050405020304" pitchFamily="18" charset="0"/>
              <a:cs typeface="Times New Roman" panose="02020603050405020304" pitchFamily="18" charset="0"/>
            </a:endParaRPr>
          </a:p>
          <a:p>
            <a:pPr lvl="0" algn="just">
              <a:lnSpc>
                <a:spcPct val="170000"/>
              </a:lnSpc>
            </a:pPr>
            <a:r>
              <a:rPr lang="en-US" sz="2200" dirty="0">
                <a:latin typeface="Times New Roman" panose="02020603050405020304" pitchFamily="18" charset="0"/>
                <a:cs typeface="Times New Roman" panose="02020603050405020304" pitchFamily="18" charset="0"/>
              </a:rPr>
              <a:t> To investigate the microstructural characteristics of the 3D Printed specimen. </a:t>
            </a:r>
            <a:endParaRPr lang="en-IN" sz="2200" dirty="0">
              <a:latin typeface="Times New Roman" panose="02020603050405020304" pitchFamily="18" charset="0"/>
              <a:cs typeface="Times New Roman" panose="02020603050405020304" pitchFamily="18" charset="0"/>
            </a:endParaRPr>
          </a:p>
          <a:p>
            <a:pPr lvl="0" algn="just">
              <a:lnSpc>
                <a:spcPct val="170000"/>
              </a:lnSpc>
            </a:pPr>
            <a:r>
              <a:rPr lang="en-US" sz="2200" dirty="0">
                <a:latin typeface="Times New Roman" panose="02020603050405020304" pitchFamily="18" charset="0"/>
                <a:cs typeface="Times New Roman" panose="02020603050405020304" pitchFamily="18" charset="0"/>
              </a:rPr>
              <a:t>To arrive at an empirical relation to assess the output response’s tensile strength and flexural strength in 3D printing of  the  Specimen. </a:t>
            </a:r>
          </a:p>
          <a:p>
            <a:pPr algn="just">
              <a:lnSpc>
                <a:spcPct val="170000"/>
              </a:lnSpc>
            </a:pPr>
            <a:r>
              <a:rPr lang="en-US" sz="2200" dirty="0">
                <a:effectLst/>
                <a:latin typeface="Times New Roman" panose="02020603050405020304" pitchFamily="18" charset="0"/>
                <a:ea typeface="Arial" panose="020B0604020202020204" pitchFamily="34" charset="0"/>
                <a:cs typeface="Times New Roman" panose="02020603050405020304" pitchFamily="18" charset="0"/>
              </a:rPr>
              <a:t>To experimentally investigate the process attributes for 3D Printing of specimen and identify the optimum process parameters using Response Surface Methodology (RSM) and Artificial Neural Network (ANN) approach.</a:t>
            </a:r>
            <a:endParaRPr lang="en-IN" sz="2200" dirty="0">
              <a:latin typeface="Times New Roman" panose="02020603050405020304" pitchFamily="18" charset="0"/>
              <a:cs typeface="Times New Roman" panose="02020603050405020304" pitchFamily="18" charset="0"/>
            </a:endParaRPr>
          </a:p>
          <a:p>
            <a:pPr lvl="0" algn="just">
              <a:lnSpc>
                <a:spcPct val="170000"/>
              </a:lnSpc>
            </a:pPr>
            <a:r>
              <a:rPr lang="en-US" sz="2200" dirty="0">
                <a:latin typeface="Times New Roman" panose="02020603050405020304" pitchFamily="18" charset="0"/>
                <a:cs typeface="Times New Roman" panose="02020603050405020304" pitchFamily="18" charset="0"/>
              </a:rPr>
              <a:t> To select the optimum combination of parameters using Signal-to-Noise ratio (S/N), and Analysis of Variance (ANOVA) is used for indicating the significant parameters and their effect on tensile strength and flexural strength. </a:t>
            </a:r>
            <a:endParaRPr lang="en-IN" sz="2200" dirty="0">
              <a:latin typeface="Times New Roman" panose="02020603050405020304" pitchFamily="18" charset="0"/>
              <a:cs typeface="Times New Roman" panose="02020603050405020304" pitchFamily="18" charset="0"/>
            </a:endParaRPr>
          </a:p>
          <a:p>
            <a:pPr marL="0" lvl="0" indent="0" algn="just">
              <a:lnSpc>
                <a:spcPct val="170000"/>
              </a:lnSpc>
              <a:buNone/>
            </a:pPr>
            <a:endParaRPr lang="en-IN" sz="3100" dirty="0">
              <a:latin typeface="Times New Roman" panose="02020603050405020304" pitchFamily="18" charset="0"/>
              <a:cs typeface="Times New Roman" panose="02020603050405020304" pitchFamily="18" charset="0"/>
            </a:endParaRPr>
          </a:p>
          <a:p>
            <a:pPr marL="0" indent="0">
              <a:lnSpc>
                <a:spcPct val="100000"/>
              </a:lnSpc>
              <a:buNone/>
            </a:pPr>
            <a:endParaRPr lang="en-US" dirty="0"/>
          </a:p>
        </p:txBody>
      </p:sp>
    </p:spTree>
    <p:extLst>
      <p:ext uri="{BB962C8B-B14F-4D97-AF65-F5344CB8AC3E}">
        <p14:creationId xmlns:p14="http://schemas.microsoft.com/office/powerpoint/2010/main" val="1722271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1A062-8561-46D4-A6C1-C062648EAA77}"/>
              </a:ext>
            </a:extLst>
          </p:cNvPr>
          <p:cNvSpPr>
            <a:spLocks noGrp="1"/>
          </p:cNvSpPr>
          <p:nvPr>
            <p:ph type="title"/>
          </p:nvPr>
        </p:nvSpPr>
        <p:spPr>
          <a:xfrm>
            <a:off x="605046" y="108426"/>
            <a:ext cx="10515600" cy="1325563"/>
          </a:xfrm>
        </p:spPr>
        <p:txBody>
          <a:bodyPr/>
          <a:lstStyle/>
          <a:p>
            <a:r>
              <a:rPr lang="en-IN" b="1" u="sng" dirty="0"/>
              <a:t>Flow chart </a:t>
            </a:r>
            <a:r>
              <a:rPr lang="en-IN" u="sng" dirty="0"/>
              <a:t>:</a:t>
            </a:r>
          </a:p>
        </p:txBody>
      </p:sp>
      <p:sp>
        <p:nvSpPr>
          <p:cNvPr id="4" name="Callout: Down Arrow 3">
            <a:extLst>
              <a:ext uri="{FF2B5EF4-FFF2-40B4-BE49-F238E27FC236}">
                <a16:creationId xmlns:a16="http://schemas.microsoft.com/office/drawing/2014/main" id="{227DCFD5-E866-495F-A8BA-9E417EC5E8E8}"/>
              </a:ext>
            </a:extLst>
          </p:cNvPr>
          <p:cNvSpPr/>
          <p:nvPr/>
        </p:nvSpPr>
        <p:spPr>
          <a:xfrm>
            <a:off x="4448201" y="993371"/>
            <a:ext cx="2829287" cy="719604"/>
          </a:xfrm>
          <a:prstGeom prst="downArrowCallou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IN" dirty="0">
                <a:solidFill>
                  <a:schemeClr val="tx1"/>
                </a:solidFill>
              </a:rPr>
              <a:t>Literature survey</a:t>
            </a:r>
          </a:p>
        </p:txBody>
      </p:sp>
      <p:sp>
        <p:nvSpPr>
          <p:cNvPr id="5" name="Callout: Down Arrow 4">
            <a:extLst>
              <a:ext uri="{FF2B5EF4-FFF2-40B4-BE49-F238E27FC236}">
                <a16:creationId xmlns:a16="http://schemas.microsoft.com/office/drawing/2014/main" id="{3A0ABCD4-C65F-4635-BCE6-264295EA6673}"/>
              </a:ext>
            </a:extLst>
          </p:cNvPr>
          <p:cNvSpPr/>
          <p:nvPr/>
        </p:nvSpPr>
        <p:spPr>
          <a:xfrm>
            <a:off x="4448202" y="1758298"/>
            <a:ext cx="2829288" cy="719604"/>
          </a:xfrm>
          <a:prstGeom prst="downArrowCallou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IN" dirty="0">
                <a:solidFill>
                  <a:schemeClr val="tx1"/>
                </a:solidFill>
              </a:rPr>
              <a:t>Material selection</a:t>
            </a:r>
          </a:p>
        </p:txBody>
      </p:sp>
      <p:sp>
        <p:nvSpPr>
          <p:cNvPr id="6" name="Callout: Down Arrow 5">
            <a:extLst>
              <a:ext uri="{FF2B5EF4-FFF2-40B4-BE49-F238E27FC236}">
                <a16:creationId xmlns:a16="http://schemas.microsoft.com/office/drawing/2014/main" id="{48BEFFBC-7926-48A9-B0FA-5283EBDB248C}"/>
              </a:ext>
            </a:extLst>
          </p:cNvPr>
          <p:cNvSpPr/>
          <p:nvPr/>
        </p:nvSpPr>
        <p:spPr>
          <a:xfrm>
            <a:off x="4448202" y="2522931"/>
            <a:ext cx="2829288" cy="719604"/>
          </a:xfrm>
          <a:prstGeom prst="downArrowCallou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IN" dirty="0">
                <a:solidFill>
                  <a:schemeClr val="tx1"/>
                </a:solidFill>
              </a:rPr>
              <a:t>Modelling</a:t>
            </a:r>
          </a:p>
        </p:txBody>
      </p:sp>
      <p:sp>
        <p:nvSpPr>
          <p:cNvPr id="7" name="Callout: Down Arrow 6">
            <a:extLst>
              <a:ext uri="{FF2B5EF4-FFF2-40B4-BE49-F238E27FC236}">
                <a16:creationId xmlns:a16="http://schemas.microsoft.com/office/drawing/2014/main" id="{29C1E8DC-829F-45C9-853B-24845D5BA331}"/>
              </a:ext>
            </a:extLst>
          </p:cNvPr>
          <p:cNvSpPr/>
          <p:nvPr/>
        </p:nvSpPr>
        <p:spPr>
          <a:xfrm>
            <a:off x="4448202" y="3319756"/>
            <a:ext cx="2829288" cy="719604"/>
          </a:xfrm>
          <a:prstGeom prst="downArrowCallou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IN" dirty="0">
                <a:solidFill>
                  <a:schemeClr val="tx1"/>
                </a:solidFill>
              </a:rPr>
              <a:t>3D printing</a:t>
            </a:r>
          </a:p>
        </p:txBody>
      </p:sp>
      <p:sp>
        <p:nvSpPr>
          <p:cNvPr id="8" name="Callout: Down Arrow 7">
            <a:extLst>
              <a:ext uri="{FF2B5EF4-FFF2-40B4-BE49-F238E27FC236}">
                <a16:creationId xmlns:a16="http://schemas.microsoft.com/office/drawing/2014/main" id="{C1170092-A80A-4380-A030-7CB2E888E7D6}"/>
              </a:ext>
            </a:extLst>
          </p:cNvPr>
          <p:cNvSpPr/>
          <p:nvPr/>
        </p:nvSpPr>
        <p:spPr>
          <a:xfrm>
            <a:off x="4448202" y="4112991"/>
            <a:ext cx="2829288" cy="719604"/>
          </a:xfrm>
          <a:prstGeom prst="downArrowCallou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IN" dirty="0">
                <a:solidFill>
                  <a:srgbClr val="000000"/>
                </a:solidFill>
                <a:latin typeface="Times New Roman" panose="02020603050405020304" pitchFamily="18" charset="0"/>
                <a:ea typeface="Calibri" panose="020F0502020204030204" pitchFamily="34" charset="0"/>
              </a:rPr>
              <a:t>A</a:t>
            </a:r>
            <a:r>
              <a:rPr lang="en-IN" sz="1800" dirty="0">
                <a:solidFill>
                  <a:srgbClr val="000000"/>
                </a:solidFill>
                <a:effectLst/>
                <a:latin typeface="Times New Roman" panose="02020603050405020304" pitchFamily="18" charset="0"/>
                <a:ea typeface="Calibri" panose="020F0502020204030204" pitchFamily="34" charset="0"/>
              </a:rPr>
              <a:t>ssess the mechanical properties</a:t>
            </a:r>
            <a:endParaRPr lang="en-IN" dirty="0">
              <a:solidFill>
                <a:schemeClr val="tx1"/>
              </a:solidFill>
            </a:endParaRPr>
          </a:p>
        </p:txBody>
      </p:sp>
      <p:sp>
        <p:nvSpPr>
          <p:cNvPr id="9" name="Callout: Down Arrow 8">
            <a:extLst>
              <a:ext uri="{FF2B5EF4-FFF2-40B4-BE49-F238E27FC236}">
                <a16:creationId xmlns:a16="http://schemas.microsoft.com/office/drawing/2014/main" id="{4AA77F88-DF3C-4901-A2A4-42256A3E8DED}"/>
              </a:ext>
            </a:extLst>
          </p:cNvPr>
          <p:cNvSpPr/>
          <p:nvPr/>
        </p:nvSpPr>
        <p:spPr>
          <a:xfrm>
            <a:off x="4448201" y="4849023"/>
            <a:ext cx="2829289" cy="1066678"/>
          </a:xfrm>
          <a:prstGeom prst="downArrowCallou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IN" sz="1600" dirty="0">
                <a:solidFill>
                  <a:schemeClr val="tx1"/>
                </a:solidFill>
              </a:rPr>
              <a:t>Optimization of process parameters using RSM and ANN</a:t>
            </a:r>
          </a:p>
        </p:txBody>
      </p:sp>
      <p:sp>
        <p:nvSpPr>
          <p:cNvPr id="13" name="Flowchart: Process 12">
            <a:extLst>
              <a:ext uri="{FF2B5EF4-FFF2-40B4-BE49-F238E27FC236}">
                <a16:creationId xmlns:a16="http://schemas.microsoft.com/office/drawing/2014/main" id="{2F5E5F63-8970-430C-94C6-7BC19AB734C9}"/>
              </a:ext>
            </a:extLst>
          </p:cNvPr>
          <p:cNvSpPr/>
          <p:nvPr/>
        </p:nvSpPr>
        <p:spPr>
          <a:xfrm>
            <a:off x="4448203" y="5925128"/>
            <a:ext cx="2829288" cy="621853"/>
          </a:xfrm>
          <a:prstGeom prst="flowChartProcess">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IN" dirty="0">
                <a:solidFill>
                  <a:schemeClr val="tx1"/>
                </a:solidFill>
              </a:rPr>
              <a:t>Conclusion</a:t>
            </a:r>
          </a:p>
        </p:txBody>
      </p:sp>
    </p:spTree>
    <p:extLst>
      <p:ext uri="{BB962C8B-B14F-4D97-AF65-F5344CB8AC3E}">
        <p14:creationId xmlns:p14="http://schemas.microsoft.com/office/powerpoint/2010/main" val="3579473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570A16-7C7A-DE82-8ABE-BCC1C2917EC6}"/>
              </a:ext>
            </a:extLst>
          </p:cNvPr>
          <p:cNvSpPr txBox="1"/>
          <p:nvPr/>
        </p:nvSpPr>
        <p:spPr>
          <a:xfrm>
            <a:off x="224554" y="203989"/>
            <a:ext cx="6097348" cy="515141"/>
          </a:xfrm>
          <a:prstGeom prst="rect">
            <a:avLst/>
          </a:prstGeom>
          <a:noFill/>
        </p:spPr>
        <p:txBody>
          <a:bodyPr wrap="square">
            <a:spAutoFit/>
          </a:bodyPr>
          <a:lstStyle/>
          <a:p>
            <a:pPr marL="342900" lvl="0" indent="-342900">
              <a:lnSpc>
                <a:spcPct val="115000"/>
              </a:lnSpc>
              <a:buFont typeface="Wingdings" panose="05000000000000000000" pitchFamily="2" charset="2"/>
              <a:buChar char=""/>
            </a:pPr>
            <a:r>
              <a:rPr lang="en-US" sz="2600" b="1" dirty="0">
                <a:effectLst/>
                <a:latin typeface="Times New Roman" panose="02020603050405020304" pitchFamily="18" charset="0"/>
                <a:ea typeface="Arial" panose="020B0604020202020204" pitchFamily="34" charset="0"/>
              </a:rPr>
              <a:t>Specification of FDM</a:t>
            </a:r>
            <a:endParaRPr lang="en-IN" sz="2600" dirty="0">
              <a:effectLst/>
              <a:latin typeface="Arial" panose="020B0604020202020204" pitchFamily="34" charset="0"/>
              <a:ea typeface="Arial" panose="020B0604020202020204" pitchFamily="34" charset="0"/>
            </a:endParaRPr>
          </a:p>
        </p:txBody>
      </p:sp>
      <p:graphicFrame>
        <p:nvGraphicFramePr>
          <p:cNvPr id="4" name="Table 3">
            <a:extLst>
              <a:ext uri="{FF2B5EF4-FFF2-40B4-BE49-F238E27FC236}">
                <a16:creationId xmlns:a16="http://schemas.microsoft.com/office/drawing/2014/main" id="{393AD028-C50C-CF96-2335-80BB8F579529}"/>
              </a:ext>
            </a:extLst>
          </p:cNvPr>
          <p:cNvGraphicFramePr>
            <a:graphicFrameLocks noGrp="1"/>
          </p:cNvGraphicFramePr>
          <p:nvPr>
            <p:extLst>
              <p:ext uri="{D42A27DB-BD31-4B8C-83A1-F6EECF244321}">
                <p14:modId xmlns:p14="http://schemas.microsoft.com/office/powerpoint/2010/main" val="2782893388"/>
              </p:ext>
            </p:extLst>
          </p:nvPr>
        </p:nvGraphicFramePr>
        <p:xfrm>
          <a:off x="4008255" y="1172985"/>
          <a:ext cx="7994931" cy="4722421"/>
        </p:xfrm>
        <a:graphic>
          <a:graphicData uri="http://schemas.openxmlformats.org/drawingml/2006/table">
            <a:tbl>
              <a:tblPr firstRow="1" firstCol="1" bandRow="1">
                <a:tableStyleId>{5940675A-B579-460E-94D1-54222C63F5DA}</a:tableStyleId>
              </a:tblPr>
              <a:tblGrid>
                <a:gridCol w="3997022">
                  <a:extLst>
                    <a:ext uri="{9D8B030D-6E8A-4147-A177-3AD203B41FA5}">
                      <a16:colId xmlns:a16="http://schemas.microsoft.com/office/drawing/2014/main" val="3791725522"/>
                    </a:ext>
                  </a:extLst>
                </a:gridCol>
                <a:gridCol w="3997909">
                  <a:extLst>
                    <a:ext uri="{9D8B030D-6E8A-4147-A177-3AD203B41FA5}">
                      <a16:colId xmlns:a16="http://schemas.microsoft.com/office/drawing/2014/main" val="410322074"/>
                    </a:ext>
                  </a:extLst>
                </a:gridCol>
              </a:tblGrid>
              <a:tr h="566997">
                <a:tc>
                  <a:txBody>
                    <a:bodyPr/>
                    <a:lstStyle/>
                    <a:p>
                      <a:pPr algn="ctr">
                        <a:lnSpc>
                          <a:spcPct val="150000"/>
                        </a:lnSpc>
                      </a:pPr>
                      <a:r>
                        <a:rPr lang="en-IN" sz="2000" dirty="0">
                          <a:effectLst/>
                        </a:rPr>
                        <a:t>Build Volume</a:t>
                      </a:r>
                      <a:endParaRPr lang="en-IN" sz="20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ctr">
                        <a:lnSpc>
                          <a:spcPct val="150000"/>
                        </a:lnSpc>
                      </a:pPr>
                      <a:r>
                        <a:rPr lang="en-IN" sz="2000">
                          <a:effectLst/>
                        </a:rPr>
                        <a:t>260 x 260 x 260 mm</a:t>
                      </a:r>
                      <a:endParaRPr lang="en-IN"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60669352"/>
                  </a:ext>
                </a:extLst>
              </a:tr>
              <a:tr h="566997">
                <a:tc>
                  <a:txBody>
                    <a:bodyPr/>
                    <a:lstStyle/>
                    <a:p>
                      <a:pPr algn="ctr">
                        <a:lnSpc>
                          <a:spcPct val="150000"/>
                        </a:lnSpc>
                      </a:pPr>
                      <a:r>
                        <a:rPr lang="en-IN" sz="2000" dirty="0">
                          <a:effectLst/>
                        </a:rPr>
                        <a:t>Layer Resolution</a:t>
                      </a:r>
                      <a:endParaRPr lang="en-IN" sz="20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ctr">
                        <a:lnSpc>
                          <a:spcPct val="150000"/>
                        </a:lnSpc>
                      </a:pPr>
                      <a:r>
                        <a:rPr lang="en-IN" sz="2000">
                          <a:effectLst/>
                        </a:rPr>
                        <a:t>Down to 50 microns</a:t>
                      </a:r>
                      <a:endParaRPr lang="en-IN"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33216671"/>
                  </a:ext>
                </a:extLst>
              </a:tr>
              <a:tr h="566997">
                <a:tc>
                  <a:txBody>
                    <a:bodyPr/>
                    <a:lstStyle/>
                    <a:p>
                      <a:pPr algn="ctr">
                        <a:lnSpc>
                          <a:spcPct val="150000"/>
                        </a:lnSpc>
                      </a:pPr>
                      <a:r>
                        <a:rPr lang="en-IN" sz="2000">
                          <a:effectLst/>
                        </a:rPr>
                        <a:t>Nozzle Diameter</a:t>
                      </a:r>
                      <a:endParaRPr lang="en-IN"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ctr">
                        <a:lnSpc>
                          <a:spcPct val="150000"/>
                        </a:lnSpc>
                      </a:pPr>
                      <a:r>
                        <a:rPr lang="en-IN" sz="2000">
                          <a:effectLst/>
                        </a:rPr>
                        <a:t>0.4 mm (Standard)</a:t>
                      </a:r>
                      <a:endParaRPr lang="en-IN"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0778894"/>
                  </a:ext>
                </a:extLst>
              </a:tr>
              <a:tr h="566997">
                <a:tc>
                  <a:txBody>
                    <a:bodyPr/>
                    <a:lstStyle/>
                    <a:p>
                      <a:pPr algn="ctr">
                        <a:lnSpc>
                          <a:spcPct val="150000"/>
                        </a:lnSpc>
                      </a:pPr>
                      <a:r>
                        <a:rPr lang="en-IN" sz="2000">
                          <a:effectLst/>
                        </a:rPr>
                        <a:t>Max Nozzle Temperature</a:t>
                      </a:r>
                      <a:endParaRPr lang="en-IN"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ctr">
                        <a:lnSpc>
                          <a:spcPct val="150000"/>
                        </a:lnSpc>
                      </a:pPr>
                      <a:r>
                        <a:rPr lang="en-IN" sz="2000">
                          <a:effectLst/>
                        </a:rPr>
                        <a:t>Up to 450°C</a:t>
                      </a:r>
                      <a:endParaRPr lang="en-IN"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96358969"/>
                  </a:ext>
                </a:extLst>
              </a:tr>
              <a:tr h="566997">
                <a:tc>
                  <a:txBody>
                    <a:bodyPr/>
                    <a:lstStyle/>
                    <a:p>
                      <a:pPr algn="ctr">
                        <a:lnSpc>
                          <a:spcPct val="150000"/>
                        </a:lnSpc>
                      </a:pPr>
                      <a:r>
                        <a:rPr lang="en-IN" sz="2000">
                          <a:effectLst/>
                        </a:rPr>
                        <a:t>Max Bed Temperature</a:t>
                      </a:r>
                      <a:endParaRPr lang="en-IN"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ctr">
                        <a:lnSpc>
                          <a:spcPct val="150000"/>
                        </a:lnSpc>
                      </a:pPr>
                      <a:r>
                        <a:rPr lang="en-IN" sz="2000">
                          <a:effectLst/>
                        </a:rPr>
                        <a:t>Up to 160°C</a:t>
                      </a:r>
                      <a:endParaRPr lang="en-IN"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08460062"/>
                  </a:ext>
                </a:extLst>
              </a:tr>
              <a:tr h="685050">
                <a:tc>
                  <a:txBody>
                    <a:bodyPr/>
                    <a:lstStyle/>
                    <a:p>
                      <a:pPr algn="ctr">
                        <a:lnSpc>
                          <a:spcPct val="150000"/>
                        </a:lnSpc>
                      </a:pPr>
                      <a:r>
                        <a:rPr lang="en-IN" sz="2000">
                          <a:effectLst/>
                        </a:rPr>
                        <a:t>Print Speed</a:t>
                      </a:r>
                      <a:endParaRPr lang="en-IN"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ctr">
                        <a:lnSpc>
                          <a:spcPct val="150000"/>
                        </a:lnSpc>
                      </a:pPr>
                      <a:r>
                        <a:rPr lang="en-IN" sz="2000" dirty="0">
                          <a:effectLst/>
                        </a:rPr>
                        <a:t>Up to 300 mm/s</a:t>
                      </a:r>
                      <a:endParaRPr lang="en-IN" sz="20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36881698"/>
                  </a:ext>
                </a:extLst>
              </a:tr>
              <a:tr h="1202386">
                <a:tc>
                  <a:txBody>
                    <a:bodyPr/>
                    <a:lstStyle/>
                    <a:p>
                      <a:pPr algn="ctr">
                        <a:lnSpc>
                          <a:spcPct val="150000"/>
                        </a:lnSpc>
                      </a:pPr>
                      <a:r>
                        <a:rPr lang="en-IN" sz="2000" dirty="0">
                          <a:effectLst/>
                        </a:rPr>
                        <a:t>Compatible materials</a:t>
                      </a:r>
                      <a:endParaRPr lang="en-IN" sz="20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ctr">
                        <a:lnSpc>
                          <a:spcPct val="150000"/>
                        </a:lnSpc>
                      </a:pPr>
                      <a:r>
                        <a:rPr lang="en-IN" sz="2000" dirty="0">
                          <a:effectLst/>
                        </a:rPr>
                        <a:t>PEEK, Nylon, Carbon Fiber, PEKK, PPSU, TPU, PC, PLA, ABS.</a:t>
                      </a:r>
                      <a:endParaRPr lang="en-IN" sz="20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26630251"/>
                  </a:ext>
                </a:extLst>
              </a:tr>
            </a:tbl>
          </a:graphicData>
        </a:graphic>
      </p:graphicFrame>
      <p:pic>
        <p:nvPicPr>
          <p:cNvPr id="5" name="Picture 4">
            <a:extLst>
              <a:ext uri="{FF2B5EF4-FFF2-40B4-BE49-F238E27FC236}">
                <a16:creationId xmlns:a16="http://schemas.microsoft.com/office/drawing/2014/main" id="{9CEA12B9-CF5A-CDC6-81C4-D1BA46988B7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260" y="1565309"/>
            <a:ext cx="2984500" cy="359791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22234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664C56-F861-31B5-7FA2-7FD00C90BBB6}"/>
              </a:ext>
            </a:extLst>
          </p:cNvPr>
          <p:cNvSpPr txBox="1"/>
          <p:nvPr/>
        </p:nvSpPr>
        <p:spPr>
          <a:xfrm>
            <a:off x="216461" y="317041"/>
            <a:ext cx="8223532" cy="477054"/>
          </a:xfrm>
          <a:prstGeom prst="rect">
            <a:avLst/>
          </a:prstGeom>
          <a:noFill/>
        </p:spPr>
        <p:txBody>
          <a:bodyPr wrap="square">
            <a:spAutoFit/>
          </a:bodyPr>
          <a:lstStyle/>
          <a:p>
            <a:pPr marL="342900" indent="-342900">
              <a:buFont typeface="Wingdings" panose="05000000000000000000" pitchFamily="2" charset="2"/>
              <a:buChar char="Ø"/>
            </a:pPr>
            <a:r>
              <a:rPr lang="en-US" sz="2500" b="1" dirty="0">
                <a:effectLst/>
                <a:latin typeface="Times New Roman" panose="02020603050405020304" pitchFamily="18" charset="0"/>
                <a:ea typeface="Arial" panose="020B0604020202020204" pitchFamily="34" charset="0"/>
              </a:rPr>
              <a:t>Specification of material: </a:t>
            </a:r>
            <a:r>
              <a:rPr lang="en-US" sz="2500" b="1" dirty="0">
                <a:solidFill>
                  <a:srgbClr val="374151"/>
                </a:solidFill>
                <a:effectLst/>
                <a:latin typeface="Times New Roman" panose="02020603050405020304" pitchFamily="18" charset="0"/>
                <a:ea typeface="Arial" panose="020B0604020202020204" pitchFamily="34" charset="0"/>
              </a:rPr>
              <a:t>Polyetheretherketone [PEEK]</a:t>
            </a:r>
            <a:endParaRPr lang="en-IN" sz="2500" b="1" dirty="0"/>
          </a:p>
        </p:txBody>
      </p:sp>
      <p:graphicFrame>
        <p:nvGraphicFramePr>
          <p:cNvPr id="4" name="Table 3">
            <a:extLst>
              <a:ext uri="{FF2B5EF4-FFF2-40B4-BE49-F238E27FC236}">
                <a16:creationId xmlns:a16="http://schemas.microsoft.com/office/drawing/2014/main" id="{AB996EA6-B8FC-23A0-CD51-2EDE8D1F269A}"/>
              </a:ext>
            </a:extLst>
          </p:cNvPr>
          <p:cNvGraphicFramePr>
            <a:graphicFrameLocks noGrp="1"/>
          </p:cNvGraphicFramePr>
          <p:nvPr>
            <p:extLst>
              <p:ext uri="{D42A27DB-BD31-4B8C-83A1-F6EECF244321}">
                <p14:modId xmlns:p14="http://schemas.microsoft.com/office/powerpoint/2010/main" val="2800864645"/>
              </p:ext>
            </p:extLst>
          </p:nvPr>
        </p:nvGraphicFramePr>
        <p:xfrm>
          <a:off x="3419334" y="1278279"/>
          <a:ext cx="8629822" cy="4625124"/>
        </p:xfrm>
        <a:graphic>
          <a:graphicData uri="http://schemas.openxmlformats.org/drawingml/2006/table">
            <a:tbl>
              <a:tblPr firstRow="1" firstCol="1" bandRow="1">
                <a:tableStyleId>{5940675A-B579-460E-94D1-54222C63F5DA}</a:tableStyleId>
              </a:tblPr>
              <a:tblGrid>
                <a:gridCol w="2573537">
                  <a:extLst>
                    <a:ext uri="{9D8B030D-6E8A-4147-A177-3AD203B41FA5}">
                      <a16:colId xmlns:a16="http://schemas.microsoft.com/office/drawing/2014/main" val="2909488063"/>
                    </a:ext>
                  </a:extLst>
                </a:gridCol>
                <a:gridCol w="6056285">
                  <a:extLst>
                    <a:ext uri="{9D8B030D-6E8A-4147-A177-3AD203B41FA5}">
                      <a16:colId xmlns:a16="http://schemas.microsoft.com/office/drawing/2014/main" val="1876877944"/>
                    </a:ext>
                  </a:extLst>
                </a:gridCol>
              </a:tblGrid>
              <a:tr h="962703">
                <a:tc>
                  <a:txBody>
                    <a:bodyPr/>
                    <a:lstStyle/>
                    <a:p>
                      <a:pPr algn="ctr">
                        <a:lnSpc>
                          <a:spcPct val="115000"/>
                        </a:lnSpc>
                      </a:pPr>
                      <a:r>
                        <a:rPr lang="en-IN" sz="1600" dirty="0">
                          <a:effectLst/>
                        </a:rPr>
                        <a:t>Chemical Structure</a:t>
                      </a:r>
                      <a:endParaRPr lang="en-IN" sz="16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tc>
                  <a:txBody>
                    <a:bodyPr/>
                    <a:lstStyle/>
                    <a:p>
                      <a:pPr marL="342900" lvl="0" indent="-342900">
                        <a:lnSpc>
                          <a:spcPct val="150000"/>
                        </a:lnSpc>
                        <a:buFont typeface="Arial" panose="020B0604020202020204" pitchFamily="34" charset="0"/>
                        <a:buChar char="•"/>
                      </a:pPr>
                      <a:r>
                        <a:rPr lang="en-IN" sz="1600" dirty="0">
                          <a:effectLst/>
                        </a:rPr>
                        <a:t>PEEK belongs to the family of polyaryletherketones.</a:t>
                      </a:r>
                    </a:p>
                    <a:p>
                      <a:pPr marL="342900" lvl="0" indent="-342900">
                        <a:lnSpc>
                          <a:spcPct val="150000"/>
                        </a:lnSpc>
                        <a:buFont typeface="Arial" panose="020B0604020202020204" pitchFamily="34" charset="0"/>
                        <a:buChar char="•"/>
                      </a:pPr>
                      <a:r>
                        <a:rPr lang="en-IN" sz="1600" dirty="0">
                          <a:effectLst/>
                        </a:rPr>
                        <a:t>Chemical formula: C</a:t>
                      </a:r>
                      <a:r>
                        <a:rPr lang="en-IN" sz="1600" baseline="-25000" dirty="0">
                          <a:effectLst/>
                        </a:rPr>
                        <a:t>19</a:t>
                      </a:r>
                      <a:r>
                        <a:rPr lang="en-IN" sz="1600" dirty="0">
                          <a:effectLst/>
                        </a:rPr>
                        <a:t>H</a:t>
                      </a:r>
                      <a:r>
                        <a:rPr lang="en-IN" sz="1600" baseline="-25000" dirty="0">
                          <a:effectLst/>
                        </a:rPr>
                        <a:t>12</a:t>
                      </a:r>
                      <a:r>
                        <a:rPr lang="en-IN" sz="1600" dirty="0">
                          <a:effectLst/>
                        </a:rPr>
                        <a:t>O</a:t>
                      </a:r>
                      <a:r>
                        <a:rPr lang="en-IN" sz="1600" baseline="-25000" dirty="0">
                          <a:effectLst/>
                        </a:rPr>
                        <a:t>3</a:t>
                      </a:r>
                      <a:r>
                        <a:rPr lang="en-IN" sz="1600" dirty="0">
                          <a:effectLst/>
                        </a:rPr>
                        <a:t>C</a:t>
                      </a:r>
                      <a:r>
                        <a:rPr lang="en-IN" sz="1600" baseline="-25000" dirty="0">
                          <a:effectLst/>
                        </a:rPr>
                        <a:t>19</a:t>
                      </a:r>
                      <a:r>
                        <a:rPr lang="en-IN" sz="1600" dirty="0">
                          <a:effectLst/>
                        </a:rPr>
                        <a:t>H</a:t>
                      </a:r>
                      <a:r>
                        <a:rPr lang="en-IN" sz="1600" baseline="-25000" dirty="0">
                          <a:effectLst/>
                        </a:rPr>
                        <a:t>12</a:t>
                      </a:r>
                      <a:r>
                        <a:rPr lang="en-IN" sz="1600" dirty="0">
                          <a:effectLst/>
                        </a:rPr>
                        <a:t>O</a:t>
                      </a:r>
                      <a:r>
                        <a:rPr lang="en-IN" sz="1600" baseline="-25000" dirty="0">
                          <a:effectLst/>
                        </a:rPr>
                        <a:t>3</a:t>
                      </a:r>
                      <a:endParaRPr lang="en-IN" sz="16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90425276"/>
                  </a:ext>
                </a:extLst>
              </a:tr>
              <a:tr h="1246333">
                <a:tc>
                  <a:txBody>
                    <a:bodyPr/>
                    <a:lstStyle/>
                    <a:p>
                      <a:pPr algn="ctr">
                        <a:lnSpc>
                          <a:spcPct val="115000"/>
                        </a:lnSpc>
                      </a:pPr>
                      <a:r>
                        <a:rPr lang="en-IN" sz="1600">
                          <a:effectLst/>
                        </a:rPr>
                        <a:t>Physical Properties</a:t>
                      </a:r>
                    </a:p>
                    <a:p>
                      <a:pPr algn="ctr">
                        <a:lnSpc>
                          <a:spcPct val="115000"/>
                        </a:lnSpc>
                      </a:pPr>
                      <a:r>
                        <a:rPr lang="en-IN" sz="1600">
                          <a:effectLst/>
                        </a:rPr>
                        <a:t> </a:t>
                      </a:r>
                    </a:p>
                    <a:p>
                      <a:pPr algn="ctr">
                        <a:lnSpc>
                          <a:spcPct val="115000"/>
                        </a:lnSpc>
                      </a:pPr>
                      <a:r>
                        <a:rPr lang="en-IN" sz="1600">
                          <a:effectLst/>
                        </a:rPr>
                        <a:t> </a:t>
                      </a:r>
                    </a:p>
                    <a:p>
                      <a:pPr algn="ctr">
                        <a:lnSpc>
                          <a:spcPct val="115000"/>
                        </a:lnSpc>
                      </a:pPr>
                      <a:r>
                        <a:rPr lang="en-IN" sz="1600">
                          <a:effectLst/>
                        </a:rPr>
                        <a:t> </a:t>
                      </a:r>
                      <a:endParaRPr lang="en-IN" sz="16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tc>
                  <a:txBody>
                    <a:bodyPr/>
                    <a:lstStyle/>
                    <a:p>
                      <a:pPr marL="342900" lvl="0" indent="-342900">
                        <a:lnSpc>
                          <a:spcPct val="150000"/>
                        </a:lnSpc>
                        <a:buFont typeface="Arial" panose="020B0604020202020204" pitchFamily="34" charset="0"/>
                        <a:buChar char="•"/>
                      </a:pPr>
                      <a:r>
                        <a:rPr lang="en-IN" sz="1600" dirty="0">
                          <a:effectLst/>
                        </a:rPr>
                        <a:t>Density: 1.3 g/cm³</a:t>
                      </a:r>
                    </a:p>
                    <a:p>
                      <a:pPr marL="342900" lvl="0" indent="-342900">
                        <a:lnSpc>
                          <a:spcPct val="150000"/>
                        </a:lnSpc>
                        <a:buFont typeface="Arial" panose="020B0604020202020204" pitchFamily="34" charset="0"/>
                        <a:buChar char="•"/>
                      </a:pPr>
                      <a:r>
                        <a:rPr lang="en-IN" sz="1600" dirty="0">
                          <a:effectLst/>
                        </a:rPr>
                        <a:t>Melting Point: 343°C - 387°C </a:t>
                      </a:r>
                    </a:p>
                    <a:p>
                      <a:pPr marL="342900" lvl="0" indent="-342900">
                        <a:lnSpc>
                          <a:spcPct val="150000"/>
                        </a:lnSpc>
                        <a:buFont typeface="Arial" panose="020B0604020202020204" pitchFamily="34" charset="0"/>
                        <a:buChar char="•"/>
                      </a:pPr>
                      <a:r>
                        <a:rPr lang="en-IN" sz="1600" dirty="0">
                          <a:effectLst/>
                        </a:rPr>
                        <a:t>Glass Transition Temperature (T</a:t>
                      </a:r>
                      <a:r>
                        <a:rPr lang="en-IN" sz="1600" baseline="-25000" dirty="0">
                          <a:effectLst/>
                        </a:rPr>
                        <a:t>g</a:t>
                      </a:r>
                      <a:r>
                        <a:rPr lang="en-IN" sz="1600" dirty="0">
                          <a:effectLst/>
                        </a:rPr>
                        <a:t>): 143°C</a:t>
                      </a:r>
                      <a:endParaRPr lang="en-IN" sz="16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4425664"/>
                  </a:ext>
                </a:extLst>
              </a:tr>
              <a:tr h="1348348">
                <a:tc>
                  <a:txBody>
                    <a:bodyPr/>
                    <a:lstStyle/>
                    <a:p>
                      <a:pPr algn="ctr">
                        <a:lnSpc>
                          <a:spcPct val="115000"/>
                        </a:lnSpc>
                      </a:pPr>
                      <a:r>
                        <a:rPr lang="en-IN" sz="1600">
                          <a:effectLst/>
                        </a:rPr>
                        <a:t>Mechanical Properties</a:t>
                      </a:r>
                      <a:endParaRPr lang="en-IN" sz="16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tc>
                  <a:txBody>
                    <a:bodyPr/>
                    <a:lstStyle/>
                    <a:p>
                      <a:pPr marL="342900" lvl="0" indent="-342900">
                        <a:lnSpc>
                          <a:spcPct val="150000"/>
                        </a:lnSpc>
                        <a:buFont typeface="Arial" panose="020B0604020202020204" pitchFamily="34" charset="0"/>
                        <a:buChar char="•"/>
                      </a:pPr>
                      <a:r>
                        <a:rPr lang="en-IN" sz="1600">
                          <a:effectLst/>
                        </a:rPr>
                        <a:t>Tensile Strength: 90 - 100 MPa </a:t>
                      </a:r>
                    </a:p>
                    <a:p>
                      <a:pPr marL="342900" lvl="0" indent="-342900">
                        <a:lnSpc>
                          <a:spcPct val="150000"/>
                        </a:lnSpc>
                        <a:buFont typeface="Arial" panose="020B0604020202020204" pitchFamily="34" charset="0"/>
                        <a:buChar char="•"/>
                      </a:pPr>
                      <a:r>
                        <a:rPr lang="en-IN" sz="1600">
                          <a:effectLst/>
                        </a:rPr>
                        <a:t>Flexural Strength: 140 - 160 MPa </a:t>
                      </a:r>
                    </a:p>
                    <a:p>
                      <a:pPr marL="342900" lvl="0" indent="-342900">
                        <a:lnSpc>
                          <a:spcPct val="150000"/>
                        </a:lnSpc>
                        <a:buFont typeface="Arial" panose="020B0604020202020204" pitchFamily="34" charset="0"/>
                        <a:buChar char="•"/>
                      </a:pPr>
                      <a:r>
                        <a:rPr lang="en-IN" sz="1600">
                          <a:effectLst/>
                        </a:rPr>
                        <a:t>Hardness (Rockwell): 99 HRM</a:t>
                      </a:r>
                      <a:endParaRPr lang="en-IN" sz="16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48240314"/>
                  </a:ext>
                </a:extLst>
              </a:tr>
              <a:tr h="1067740">
                <a:tc>
                  <a:txBody>
                    <a:bodyPr/>
                    <a:lstStyle/>
                    <a:p>
                      <a:pPr algn="ctr">
                        <a:lnSpc>
                          <a:spcPct val="115000"/>
                        </a:lnSpc>
                      </a:pPr>
                      <a:r>
                        <a:rPr lang="en-IN" sz="1600">
                          <a:effectLst/>
                        </a:rPr>
                        <a:t>Thermal Properties</a:t>
                      </a:r>
                      <a:endParaRPr lang="en-IN" sz="16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tc>
                  <a:txBody>
                    <a:bodyPr/>
                    <a:lstStyle/>
                    <a:p>
                      <a:pPr marL="342900" lvl="0" indent="-342900">
                        <a:lnSpc>
                          <a:spcPct val="150000"/>
                        </a:lnSpc>
                        <a:buFont typeface="Arial" panose="020B0604020202020204" pitchFamily="34" charset="0"/>
                        <a:buChar char="•"/>
                      </a:pPr>
                      <a:r>
                        <a:rPr lang="en-IN" sz="1600" dirty="0">
                          <a:effectLst/>
                        </a:rPr>
                        <a:t>Thermal Conductivity: 0.25 W/m-K</a:t>
                      </a:r>
                    </a:p>
                    <a:p>
                      <a:pPr marL="342900" lvl="0" indent="-342900">
                        <a:lnSpc>
                          <a:spcPct val="150000"/>
                        </a:lnSpc>
                        <a:buFont typeface="Arial" panose="020B0604020202020204" pitchFamily="34" charset="0"/>
                        <a:buChar char="•"/>
                      </a:pPr>
                      <a:r>
                        <a:rPr lang="en-IN" sz="1600" dirty="0">
                          <a:effectLst/>
                        </a:rPr>
                        <a:t>Coefficient of Thermal Expansion: 40 - 60 µm/m-K</a:t>
                      </a:r>
                      <a:endParaRPr lang="en-IN" sz="16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6344295"/>
                  </a:ext>
                </a:extLst>
              </a:tr>
            </a:tbl>
          </a:graphicData>
        </a:graphic>
      </p:graphicFrame>
      <p:pic>
        <p:nvPicPr>
          <p:cNvPr id="6" name="Picture 5">
            <a:extLst>
              <a:ext uri="{FF2B5EF4-FFF2-40B4-BE49-F238E27FC236}">
                <a16:creationId xmlns:a16="http://schemas.microsoft.com/office/drawing/2014/main" id="{63A6D3CE-F1AA-BE58-9773-A20EA1E44AB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6874" r="4908"/>
          <a:stretch/>
        </p:blipFill>
        <p:spPr bwMode="auto">
          <a:xfrm>
            <a:off x="142844" y="1779587"/>
            <a:ext cx="3149600" cy="3298825"/>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2887119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24AF7-7D1C-64AB-E42E-55951442375D}"/>
              </a:ext>
            </a:extLst>
          </p:cNvPr>
          <p:cNvSpPr>
            <a:spLocks noGrp="1"/>
          </p:cNvSpPr>
          <p:nvPr>
            <p:ph type="title"/>
          </p:nvPr>
        </p:nvSpPr>
        <p:spPr>
          <a:xfrm>
            <a:off x="310299" y="138881"/>
            <a:ext cx="10515600" cy="1325563"/>
          </a:xfrm>
        </p:spPr>
        <p:txBody>
          <a:bodyPr/>
          <a:lstStyle/>
          <a:p>
            <a:r>
              <a:rPr lang="en-IN" b="1" u="sng" dirty="0">
                <a:effectLst>
                  <a:outerShdw blurRad="38100" dist="38100" dir="2700000" algn="tl">
                    <a:srgbClr val="000000">
                      <a:alpha val="43137"/>
                    </a:srgbClr>
                  </a:outerShdw>
                </a:effectLst>
              </a:rPr>
              <a:t>MODELING</a:t>
            </a:r>
          </a:p>
        </p:txBody>
      </p:sp>
      <p:graphicFrame>
        <p:nvGraphicFramePr>
          <p:cNvPr id="4" name="Table 3">
            <a:extLst>
              <a:ext uri="{FF2B5EF4-FFF2-40B4-BE49-F238E27FC236}">
                <a16:creationId xmlns:a16="http://schemas.microsoft.com/office/drawing/2014/main" id="{1E55CA3F-011F-AEC6-8E17-7037BA560A9A}"/>
              </a:ext>
            </a:extLst>
          </p:cNvPr>
          <p:cNvGraphicFramePr>
            <a:graphicFrameLocks noGrp="1"/>
          </p:cNvGraphicFramePr>
          <p:nvPr>
            <p:extLst>
              <p:ext uri="{D42A27DB-BD31-4B8C-83A1-F6EECF244321}">
                <p14:modId xmlns:p14="http://schemas.microsoft.com/office/powerpoint/2010/main" val="1644648494"/>
              </p:ext>
            </p:extLst>
          </p:nvPr>
        </p:nvGraphicFramePr>
        <p:xfrm>
          <a:off x="7609229" y="388815"/>
          <a:ext cx="3733802" cy="1418127"/>
        </p:xfrm>
        <a:graphic>
          <a:graphicData uri="http://schemas.openxmlformats.org/drawingml/2006/table">
            <a:tbl>
              <a:tblPr firstRow="1" bandRow="1">
                <a:tableStyleId>{7E9639D4-E3E2-4D34-9284-5A2195B3D0D7}</a:tableStyleId>
              </a:tblPr>
              <a:tblGrid>
                <a:gridCol w="1866901">
                  <a:extLst>
                    <a:ext uri="{9D8B030D-6E8A-4147-A177-3AD203B41FA5}">
                      <a16:colId xmlns:a16="http://schemas.microsoft.com/office/drawing/2014/main" val="3032212891"/>
                    </a:ext>
                  </a:extLst>
                </a:gridCol>
                <a:gridCol w="1866901">
                  <a:extLst>
                    <a:ext uri="{9D8B030D-6E8A-4147-A177-3AD203B41FA5}">
                      <a16:colId xmlns:a16="http://schemas.microsoft.com/office/drawing/2014/main" val="4077424244"/>
                    </a:ext>
                  </a:extLst>
                </a:gridCol>
              </a:tblGrid>
              <a:tr h="472709">
                <a:tc>
                  <a:txBody>
                    <a:bodyPr/>
                    <a:lstStyle/>
                    <a:p>
                      <a:r>
                        <a:rPr lang="en-IN" b="1" dirty="0"/>
                        <a:t>Test Method </a:t>
                      </a:r>
                    </a:p>
                  </a:txBody>
                  <a:tcPr/>
                </a:tc>
                <a:tc>
                  <a:txBody>
                    <a:bodyPr/>
                    <a:lstStyle/>
                    <a:p>
                      <a:r>
                        <a:rPr lang="en-IN" b="1" dirty="0"/>
                        <a:t>Method number </a:t>
                      </a:r>
                    </a:p>
                  </a:txBody>
                  <a:tcPr/>
                </a:tc>
                <a:extLst>
                  <a:ext uri="{0D108BD9-81ED-4DB2-BD59-A6C34878D82A}">
                    <a16:rowId xmlns:a16="http://schemas.microsoft.com/office/drawing/2014/main" val="3295470931"/>
                  </a:ext>
                </a:extLst>
              </a:tr>
              <a:tr h="472709">
                <a:tc>
                  <a:txBody>
                    <a:bodyPr/>
                    <a:lstStyle/>
                    <a:p>
                      <a:r>
                        <a:rPr lang="en-IN" dirty="0">
                          <a:latin typeface="Arial Narrow" panose="020B0606020202030204" pitchFamily="34" charset="0"/>
                        </a:rPr>
                        <a:t>Tensile test </a:t>
                      </a:r>
                    </a:p>
                  </a:txBody>
                  <a:tcPr/>
                </a:tc>
                <a:tc>
                  <a:txBody>
                    <a:bodyPr/>
                    <a:lstStyle/>
                    <a:p>
                      <a:r>
                        <a:rPr lang="en-US" sz="1800" kern="1200" dirty="0">
                          <a:solidFill>
                            <a:schemeClr val="tx1"/>
                          </a:solidFill>
                          <a:effectLst/>
                          <a:latin typeface="Arial Narrow" panose="020B0606020202030204" pitchFamily="34" charset="0"/>
                        </a:rPr>
                        <a:t>ASTM D638</a:t>
                      </a:r>
                      <a:endParaRPr lang="en-IN" dirty="0">
                        <a:latin typeface="Arial Narrow" panose="020B0606020202030204" pitchFamily="34" charset="0"/>
                      </a:endParaRPr>
                    </a:p>
                  </a:txBody>
                  <a:tcPr/>
                </a:tc>
                <a:extLst>
                  <a:ext uri="{0D108BD9-81ED-4DB2-BD59-A6C34878D82A}">
                    <a16:rowId xmlns:a16="http://schemas.microsoft.com/office/drawing/2014/main" val="3622958345"/>
                  </a:ext>
                </a:extLst>
              </a:tr>
              <a:tr h="472709">
                <a:tc>
                  <a:txBody>
                    <a:bodyPr/>
                    <a:lstStyle/>
                    <a:p>
                      <a:r>
                        <a:rPr lang="en-IN" dirty="0">
                          <a:latin typeface="Arial Narrow" panose="020B0606020202030204" pitchFamily="34" charset="0"/>
                        </a:rPr>
                        <a:t>Flexural test </a:t>
                      </a:r>
                    </a:p>
                  </a:txBody>
                  <a:tcPr/>
                </a:tc>
                <a:tc>
                  <a:txBody>
                    <a:bodyPr/>
                    <a:lstStyle/>
                    <a:p>
                      <a:r>
                        <a:rPr lang="en-US" sz="1800" kern="1200" dirty="0">
                          <a:solidFill>
                            <a:schemeClr val="tx1"/>
                          </a:solidFill>
                          <a:effectLst/>
                          <a:latin typeface="Arial Narrow" panose="020B0606020202030204" pitchFamily="34" charset="0"/>
                        </a:rPr>
                        <a:t>ASTM D7264</a:t>
                      </a:r>
                      <a:endParaRPr lang="en-IN" dirty="0">
                        <a:latin typeface="Arial Narrow" panose="020B0606020202030204" pitchFamily="34" charset="0"/>
                      </a:endParaRPr>
                    </a:p>
                  </a:txBody>
                  <a:tcPr/>
                </a:tc>
                <a:extLst>
                  <a:ext uri="{0D108BD9-81ED-4DB2-BD59-A6C34878D82A}">
                    <a16:rowId xmlns:a16="http://schemas.microsoft.com/office/drawing/2014/main" val="3021244145"/>
                  </a:ext>
                </a:extLst>
              </a:tr>
            </a:tbl>
          </a:graphicData>
        </a:graphic>
      </p:graphicFrame>
      <p:sp>
        <p:nvSpPr>
          <p:cNvPr id="5" name="TextBox 4"/>
          <p:cNvSpPr txBox="1"/>
          <p:nvPr/>
        </p:nvSpPr>
        <p:spPr>
          <a:xfrm>
            <a:off x="1386456" y="5741569"/>
            <a:ext cx="2724150" cy="369332"/>
          </a:xfrm>
          <a:prstGeom prst="rect">
            <a:avLst/>
          </a:prstGeom>
          <a:noFill/>
        </p:spPr>
        <p:txBody>
          <a:bodyPr wrap="square" rtlCol="0">
            <a:spAutoFit/>
          </a:bodyPr>
          <a:lstStyle/>
          <a:p>
            <a:r>
              <a:rPr lang="en-IN" dirty="0"/>
              <a:t>Tensile Test Specimen</a:t>
            </a:r>
          </a:p>
        </p:txBody>
      </p:sp>
      <p:pic>
        <p:nvPicPr>
          <p:cNvPr id="8" name="Picture 7">
            <a:extLst>
              <a:ext uri="{FF2B5EF4-FFF2-40B4-BE49-F238E27FC236}">
                <a16:creationId xmlns:a16="http://schemas.microsoft.com/office/drawing/2014/main" id="{703F8644-2C4E-3671-D8E9-FED419114AC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56334" y="3188262"/>
            <a:ext cx="6425076" cy="2922639"/>
          </a:xfrm>
          <a:prstGeom prst="rect">
            <a:avLst/>
          </a:prstGeom>
          <a:noFill/>
          <a:ln>
            <a:noFill/>
          </a:ln>
        </p:spPr>
      </p:pic>
      <p:sp>
        <p:nvSpPr>
          <p:cNvPr id="10" name="TextBox 9">
            <a:extLst>
              <a:ext uri="{FF2B5EF4-FFF2-40B4-BE49-F238E27FC236}">
                <a16:creationId xmlns:a16="http://schemas.microsoft.com/office/drawing/2014/main" id="{6C76ABB3-F527-9431-1FE2-4C045BBCC31E}"/>
              </a:ext>
            </a:extLst>
          </p:cNvPr>
          <p:cNvSpPr txBox="1"/>
          <p:nvPr/>
        </p:nvSpPr>
        <p:spPr>
          <a:xfrm>
            <a:off x="7801501" y="6110901"/>
            <a:ext cx="2734181" cy="369332"/>
          </a:xfrm>
          <a:prstGeom prst="rect">
            <a:avLst/>
          </a:prstGeom>
          <a:noFill/>
        </p:spPr>
        <p:txBody>
          <a:bodyPr wrap="square">
            <a:spAutoFit/>
          </a:bodyPr>
          <a:lstStyle/>
          <a:p>
            <a:r>
              <a:rPr lang="en-IN" dirty="0"/>
              <a:t>Flexural Test Specimen</a:t>
            </a:r>
          </a:p>
        </p:txBody>
      </p:sp>
      <p:pic>
        <p:nvPicPr>
          <p:cNvPr id="6" name="Picture 5">
            <a:extLst>
              <a:ext uri="{FF2B5EF4-FFF2-40B4-BE49-F238E27FC236}">
                <a16:creationId xmlns:a16="http://schemas.microsoft.com/office/drawing/2014/main" id="{6457AA25-EF70-B131-2310-8E33A6BFBA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733" y="1205713"/>
            <a:ext cx="5985857" cy="3074536"/>
          </a:xfrm>
          <a:prstGeom prst="rect">
            <a:avLst/>
          </a:prstGeom>
        </p:spPr>
      </p:pic>
      <p:pic>
        <p:nvPicPr>
          <p:cNvPr id="3" name="Picture 2">
            <a:extLst>
              <a:ext uri="{FF2B5EF4-FFF2-40B4-BE49-F238E27FC236}">
                <a16:creationId xmlns:a16="http://schemas.microsoft.com/office/drawing/2014/main" id="{BD5D9FE1-40D2-F1A2-435E-720578048B1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45515"/>
          <a:stretch/>
        </p:blipFill>
        <p:spPr bwMode="auto">
          <a:xfrm>
            <a:off x="669351" y="4352442"/>
            <a:ext cx="3910330" cy="1299845"/>
          </a:xfrm>
          <a:prstGeom prst="rect">
            <a:avLst/>
          </a:prstGeom>
          <a:noFill/>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87138C2A-5F95-1A0C-54C7-905FD0A2721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48097"/>
          <a:stretch/>
        </p:blipFill>
        <p:spPr bwMode="auto">
          <a:xfrm>
            <a:off x="6942953" y="2267382"/>
            <a:ext cx="3910330" cy="123825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44249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E0F5E-B990-CA53-86A8-98DBB3E4763D}"/>
              </a:ext>
            </a:extLst>
          </p:cNvPr>
          <p:cNvSpPr>
            <a:spLocks noGrp="1"/>
          </p:cNvSpPr>
          <p:nvPr>
            <p:ph type="title"/>
          </p:nvPr>
        </p:nvSpPr>
        <p:spPr>
          <a:xfrm>
            <a:off x="838200" y="336845"/>
            <a:ext cx="10515600" cy="1325563"/>
          </a:xfrm>
        </p:spPr>
        <p:txBody>
          <a:bodyPr/>
          <a:lstStyle/>
          <a:p>
            <a:r>
              <a:rPr lang="en-IN" b="1" u="sng" dirty="0"/>
              <a:t>Applications</a:t>
            </a:r>
            <a:r>
              <a:rPr lang="en-IN" dirty="0"/>
              <a:t>:</a:t>
            </a:r>
          </a:p>
        </p:txBody>
      </p:sp>
      <p:sp>
        <p:nvSpPr>
          <p:cNvPr id="4" name="TextBox 3">
            <a:extLst>
              <a:ext uri="{FF2B5EF4-FFF2-40B4-BE49-F238E27FC236}">
                <a16:creationId xmlns:a16="http://schemas.microsoft.com/office/drawing/2014/main" id="{83E642B7-0840-8C84-D25F-D6E6008F17A4}"/>
              </a:ext>
            </a:extLst>
          </p:cNvPr>
          <p:cNvSpPr txBox="1"/>
          <p:nvPr/>
        </p:nvSpPr>
        <p:spPr>
          <a:xfrm>
            <a:off x="732321" y="1477742"/>
            <a:ext cx="6727257" cy="2570704"/>
          </a:xfrm>
          <a:prstGeom prst="rect">
            <a:avLst/>
          </a:prstGeom>
          <a:noFill/>
        </p:spPr>
        <p:txBody>
          <a:bodyPr wrap="square">
            <a:spAutoFit/>
          </a:bodyPr>
          <a:lstStyle/>
          <a:p>
            <a:pPr marL="342900" indent="-342900">
              <a:lnSpc>
                <a:spcPct val="150000"/>
              </a:lnSpc>
              <a:buFont typeface="Courier New" panose="02070309020205020404" pitchFamily="49" charset="0"/>
              <a:buChar char="o"/>
            </a:pPr>
            <a:r>
              <a:rPr lang="en-IN" sz="2200" dirty="0">
                <a:latin typeface="Times New Roman" panose="02020603050405020304" pitchFamily="18" charset="0"/>
                <a:cs typeface="Times New Roman" panose="02020603050405020304" pitchFamily="18" charset="0"/>
              </a:rPr>
              <a:t>Patient-Specific Implants.</a:t>
            </a:r>
          </a:p>
          <a:p>
            <a:pPr marL="342900" indent="-342900">
              <a:lnSpc>
                <a:spcPct val="150000"/>
              </a:lnSpc>
              <a:buFont typeface="Courier New" panose="02070309020205020404" pitchFamily="49" charset="0"/>
              <a:buChar char="o"/>
            </a:pPr>
            <a:r>
              <a:rPr lang="en-IN" sz="2200" dirty="0">
                <a:latin typeface="Times New Roman" panose="02020603050405020304" pitchFamily="18" charset="0"/>
                <a:cs typeface="Times New Roman" panose="02020603050405020304" pitchFamily="18" charset="0"/>
              </a:rPr>
              <a:t>Orthopaedic Implants.</a:t>
            </a:r>
          </a:p>
          <a:p>
            <a:pPr marL="342900" indent="-342900">
              <a:lnSpc>
                <a:spcPct val="150000"/>
              </a:lnSpc>
              <a:buFont typeface="Courier New" panose="02070309020205020404" pitchFamily="49" charset="0"/>
              <a:buChar char="o"/>
            </a:pPr>
            <a:r>
              <a:rPr lang="en-IN" sz="2200" dirty="0">
                <a:latin typeface="Times New Roman" panose="02020603050405020304" pitchFamily="18" charset="0"/>
                <a:cs typeface="Times New Roman" panose="02020603050405020304" pitchFamily="18" charset="0"/>
              </a:rPr>
              <a:t>Trauma Surgery.</a:t>
            </a:r>
          </a:p>
          <a:p>
            <a:pPr marL="342900" indent="-342900">
              <a:lnSpc>
                <a:spcPct val="150000"/>
              </a:lnSpc>
              <a:buFont typeface="Courier New" panose="02070309020205020404" pitchFamily="49" charset="0"/>
              <a:buChar char="o"/>
            </a:pPr>
            <a:r>
              <a:rPr lang="en-IN" sz="2200" dirty="0">
                <a:latin typeface="Times New Roman" panose="02020603050405020304" pitchFamily="18" charset="0"/>
                <a:cs typeface="Times New Roman" panose="02020603050405020304" pitchFamily="18" charset="0"/>
              </a:rPr>
              <a:t>Research and Development.</a:t>
            </a:r>
          </a:p>
          <a:p>
            <a:pPr marL="342900" indent="-342900">
              <a:lnSpc>
                <a:spcPct val="150000"/>
              </a:lnSpc>
              <a:buFont typeface="Courier New" panose="02070309020205020404" pitchFamily="49" charset="0"/>
              <a:buChar char="o"/>
            </a:pPr>
            <a:r>
              <a:rPr lang="en-IN" sz="2200" dirty="0">
                <a:latin typeface="Times New Roman" panose="02020603050405020304" pitchFamily="18" charset="0"/>
                <a:cs typeface="Times New Roman" panose="02020603050405020304" pitchFamily="18" charset="0"/>
              </a:rPr>
              <a:t>Customized Surgical Guides.</a:t>
            </a:r>
          </a:p>
        </p:txBody>
      </p:sp>
    </p:spTree>
    <p:extLst>
      <p:ext uri="{BB962C8B-B14F-4D97-AF65-F5344CB8AC3E}">
        <p14:creationId xmlns:p14="http://schemas.microsoft.com/office/powerpoint/2010/main" val="3039088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EC752-F148-B55F-35EE-BBBAE0ACB36F}"/>
              </a:ext>
            </a:extLst>
          </p:cNvPr>
          <p:cNvSpPr>
            <a:spLocks noGrp="1"/>
          </p:cNvSpPr>
          <p:nvPr>
            <p:ph type="title"/>
          </p:nvPr>
        </p:nvSpPr>
        <p:spPr/>
        <p:txBody>
          <a:bodyPr/>
          <a:lstStyle/>
          <a:p>
            <a:r>
              <a:rPr lang="en-US" dirty="0"/>
              <a:t>EXPECTED OUTCOME OF THE PROJECT</a:t>
            </a:r>
            <a:endParaRPr lang="en-IN" dirty="0"/>
          </a:p>
        </p:txBody>
      </p:sp>
      <p:sp>
        <p:nvSpPr>
          <p:cNvPr id="3" name="Content Placeholder 2">
            <a:extLst>
              <a:ext uri="{FF2B5EF4-FFF2-40B4-BE49-F238E27FC236}">
                <a16:creationId xmlns:a16="http://schemas.microsoft.com/office/drawing/2014/main" id="{6707ACFC-A2F9-AA4E-375D-CE9405E6EEE6}"/>
              </a:ext>
            </a:extLst>
          </p:cNvPr>
          <p:cNvSpPr>
            <a:spLocks noGrp="1"/>
          </p:cNvSpPr>
          <p:nvPr>
            <p:ph idx="1"/>
          </p:nvPr>
        </p:nvSpPr>
        <p:spPr/>
        <p:txBody>
          <a:bodyPr>
            <a:normAutofit fontScale="92500" lnSpcReduction="10000"/>
          </a:bodyPr>
          <a:lstStyle/>
          <a:p>
            <a:r>
              <a:rPr lang="en-US" dirty="0"/>
              <a:t>Improved tensile strength, flexural strength, and hardness of the 3D printed PEEK materials. </a:t>
            </a:r>
          </a:p>
          <a:p>
            <a:r>
              <a:rPr lang="en-US" dirty="0"/>
              <a:t>Identification and control of microstructural features to ensure uniformity. </a:t>
            </a:r>
          </a:p>
          <a:p>
            <a:r>
              <a:rPr lang="en-US" dirty="0"/>
              <a:t> Detailed documentation of the optimized FDM parameters and characterization results. </a:t>
            </a:r>
          </a:p>
          <a:p>
            <a:r>
              <a:rPr lang="en-US" dirty="0"/>
              <a:t>Materials specifically tailored for biomedical applications, addressing the unique requirements of the healthcare industry. </a:t>
            </a:r>
          </a:p>
          <a:p>
            <a:r>
              <a:rPr lang="en-US" dirty="0"/>
              <a:t>The optimization and characterization of FDM parameters for 3D printed material for Biomedical application aim to achieve superior mechanical properties, biocompatibility, and cost-effectiveness, ultimately advancing the field of additive manufacturing in the biomedical industry. </a:t>
            </a:r>
            <a:endParaRPr lang="en-IN" dirty="0"/>
          </a:p>
        </p:txBody>
      </p:sp>
    </p:spTree>
    <p:extLst>
      <p:ext uri="{BB962C8B-B14F-4D97-AF65-F5344CB8AC3E}">
        <p14:creationId xmlns:p14="http://schemas.microsoft.com/office/powerpoint/2010/main" val="734228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BE562A-F43B-E4C7-F89B-3DBF463A258F}"/>
              </a:ext>
            </a:extLst>
          </p:cNvPr>
          <p:cNvSpPr txBox="1"/>
          <p:nvPr/>
        </p:nvSpPr>
        <p:spPr>
          <a:xfrm>
            <a:off x="190100" y="86544"/>
            <a:ext cx="6097604" cy="784702"/>
          </a:xfrm>
          <a:prstGeom prst="rect">
            <a:avLst/>
          </a:prstGeom>
          <a:noFill/>
        </p:spPr>
        <p:txBody>
          <a:bodyPr wrap="square">
            <a:spAutoFit/>
          </a:bodyPr>
          <a:lstStyle/>
          <a:p>
            <a:pPr>
              <a:lnSpc>
                <a:spcPct val="107000"/>
              </a:lnSpc>
              <a:spcAft>
                <a:spcPts val="800"/>
              </a:spcAft>
            </a:pPr>
            <a:r>
              <a:rPr lang="en-US" sz="4400" b="1" u="sng" kern="100" dirty="0">
                <a:effectLst/>
                <a:latin typeface="+mj-lt"/>
                <a:ea typeface="Calibri" panose="020F0502020204030204" pitchFamily="34" charset="0"/>
                <a:cs typeface="Times New Roman" panose="02020603050405020304" pitchFamily="18" charset="0"/>
              </a:rPr>
              <a:t>References</a:t>
            </a:r>
            <a:endParaRPr lang="en-IN" sz="4400" kern="100" dirty="0">
              <a:effectLst/>
              <a:latin typeface="+mj-lt"/>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220A0DCC-4C72-0865-6AC7-8A9BF8582246}"/>
              </a:ext>
            </a:extLst>
          </p:cNvPr>
          <p:cNvSpPr txBox="1"/>
          <p:nvPr/>
        </p:nvSpPr>
        <p:spPr>
          <a:xfrm>
            <a:off x="190100" y="789271"/>
            <a:ext cx="11811800" cy="6344301"/>
          </a:xfrm>
          <a:prstGeom prst="rect">
            <a:avLst/>
          </a:prstGeom>
          <a:noFill/>
        </p:spPr>
        <p:txBody>
          <a:bodyPr wrap="square" rtlCol="0">
            <a:spAutoFit/>
          </a:bodyPr>
          <a:lstStyle/>
          <a:p>
            <a:pPr>
              <a:lnSpc>
                <a:spcPct val="150000"/>
              </a:lnSpc>
            </a:pPr>
            <a:r>
              <a:rPr lang="en-IN" sz="1700" dirty="0">
                <a:latin typeface="Times New Roman" panose="02020603050405020304" pitchFamily="18" charset="0"/>
                <a:cs typeface="Times New Roman" panose="02020603050405020304" pitchFamily="18" charset="0"/>
              </a:rPr>
              <a:t>[1] Balwant Singh, Raman Kumar, “</a:t>
            </a:r>
            <a:r>
              <a:rPr lang="en-IN" sz="1700" dirty="0">
                <a:solidFill>
                  <a:srgbClr val="1F1F1F"/>
                </a:solidFill>
                <a:effectLst/>
                <a:latin typeface="Times New Roman" panose="02020603050405020304" pitchFamily="18" charset="0"/>
                <a:ea typeface="Calibri" panose="020F0502020204030204" pitchFamily="34" charset="0"/>
                <a:cs typeface="Times New Roman" panose="02020603050405020304" pitchFamily="18" charset="0"/>
              </a:rPr>
              <a:t>Polymer matrix composites in 3D printing: A state of art review”</a:t>
            </a:r>
            <a:r>
              <a:rPr lang="en-IN" sz="17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2"/>
              </a:rPr>
              <a:t> https://doi.org/10.1016/j.matpr.2020.04.335</a:t>
            </a:r>
            <a:r>
              <a:rPr lang="en-IN" sz="17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50000"/>
              </a:lnSpc>
            </a:pPr>
            <a:r>
              <a:rPr lang="en-IN" sz="1700" dirty="0">
                <a:latin typeface="Times New Roman" panose="02020603050405020304" pitchFamily="18" charset="0"/>
                <a:cs typeface="Times New Roman" panose="02020603050405020304" pitchFamily="18" charset="0"/>
              </a:rPr>
              <a:t>[2] </a:t>
            </a:r>
            <a:r>
              <a:rPr lang="en-IN" sz="1700" dirty="0">
                <a:effectLst/>
                <a:latin typeface="Times New Roman" panose="02020603050405020304" pitchFamily="18" charset="0"/>
                <a:ea typeface="Calibri" panose="020F0502020204030204" pitchFamily="34" charset="0"/>
                <a:cs typeface="Times New Roman" panose="02020603050405020304" pitchFamily="18" charset="0"/>
              </a:rPr>
              <a:t>Xin Wang, Man Jiang, “</a:t>
            </a:r>
            <a:r>
              <a:rPr lang="en-IN" sz="170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3D printing of polymer matrix composites: A review and prospective”</a:t>
            </a:r>
          </a:p>
          <a:p>
            <a:pPr>
              <a:lnSpc>
                <a:spcPct val="150000"/>
              </a:lnSpc>
            </a:pPr>
            <a:r>
              <a:rPr lang="en-IN" sz="17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https://doi.org/10.1016/j.compositesb.2016.11.034</a:t>
            </a:r>
            <a:r>
              <a:rPr lang="en-IN" sz="17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50000"/>
              </a:lnSpc>
            </a:pPr>
            <a:r>
              <a:rPr lang="en-IN" sz="1700" dirty="0">
                <a:solidFill>
                  <a:srgbClr val="1F1F1F"/>
                </a:solidFill>
                <a:latin typeface="Times New Roman" panose="02020603050405020304" pitchFamily="18" charset="0"/>
                <a:ea typeface="Times New Roman" panose="02020603050405020304" pitchFamily="18" charset="0"/>
                <a:cs typeface="Times New Roman" panose="02020603050405020304" pitchFamily="18" charset="0"/>
              </a:rPr>
              <a:t>[3] </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Yahia Halabi, “</a:t>
            </a:r>
            <a:r>
              <a:rPr lang="en-IN" sz="1700" dirty="0">
                <a:solidFill>
                  <a:srgbClr val="1F1F1F"/>
                </a:solidFill>
                <a:effectLst/>
                <a:latin typeface="Times New Roman" panose="02020603050405020304" pitchFamily="18" charset="0"/>
                <a:ea typeface="Calibri" panose="020F0502020204030204" pitchFamily="34" charset="0"/>
                <a:cs typeface="Times New Roman" panose="02020603050405020304" pitchFamily="18" charset="0"/>
              </a:rPr>
              <a:t>Optimizing the material and printing parameters of the additively manufactured fiber-reinforced polymer composites using an artificial neural network model and artificial bee colony algorithm”</a:t>
            </a:r>
          </a:p>
          <a:p>
            <a:pPr>
              <a:lnSpc>
                <a:spcPct val="150000"/>
              </a:lnSpc>
            </a:pPr>
            <a:r>
              <a:rPr lang="en-IN" sz="1700" u="sng" dirty="0">
                <a:solidFill>
                  <a:srgbClr val="0563C1"/>
                </a:solidFill>
                <a:effectLst/>
                <a:latin typeface="Times New Roman" panose="02020603050405020304" pitchFamily="18" charset="0"/>
                <a:ea typeface="Times New Roman" panose="02020603050405020304" pitchFamily="18" charset="0"/>
                <a:cs typeface="Times New Roman" panose="02020603050405020304" pitchFamily="18" charset="0"/>
                <a:hlinkClick r:id="rId4"/>
              </a:rPr>
              <a:t>https://doi.org/10.1016/j.istruc.2022.10.134</a:t>
            </a: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a:lnSpc>
                <a:spcPct val="150000"/>
              </a:lnSpc>
            </a:pPr>
            <a:r>
              <a:rPr lang="en-IN" sz="1700" dirty="0">
                <a:solidFill>
                  <a:srgbClr val="1F1F1F"/>
                </a:solidFill>
                <a:latin typeface="Times New Roman" panose="02020603050405020304" pitchFamily="18" charset="0"/>
                <a:ea typeface="Calibri" panose="020F0502020204030204" pitchFamily="34" charset="0"/>
                <a:cs typeface="Times New Roman" panose="02020603050405020304" pitchFamily="18" charset="0"/>
              </a:rPr>
              <a:t>[4] </a:t>
            </a:r>
            <a:r>
              <a:rPr lang="en-IN" sz="1700" dirty="0">
                <a:effectLst/>
                <a:latin typeface="Times New Roman" panose="02020603050405020304" pitchFamily="18" charset="0"/>
                <a:ea typeface="Calibri" panose="020F0502020204030204" pitchFamily="34" charset="0"/>
                <a:cs typeface="Times New Roman" panose="02020603050405020304" pitchFamily="18" charset="0"/>
              </a:rPr>
              <a:t>Muammel M. Hanon, “The influence of 3D printing process parameters on the mechanical performance of PLA polymer and its correlation with hardness” </a:t>
            </a:r>
            <a:r>
              <a:rPr lang="en-IN" sz="17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5"/>
              </a:rPr>
              <a:t>https://www.elsevier.com/locate/jmbbm</a:t>
            </a:r>
            <a:r>
              <a:rPr lang="en-IN" sz="17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50000"/>
              </a:lnSpc>
            </a:pPr>
            <a:r>
              <a:rPr lang="en-IN" sz="1700" dirty="0">
                <a:solidFill>
                  <a:srgbClr val="1F1F1F"/>
                </a:solidFill>
                <a:latin typeface="Times New Roman" panose="02020603050405020304" pitchFamily="18" charset="0"/>
                <a:ea typeface="Calibri" panose="020F0502020204030204" pitchFamily="34" charset="0"/>
                <a:cs typeface="Times New Roman" panose="02020603050405020304" pitchFamily="18" charset="0"/>
              </a:rPr>
              <a:t>[5] </a:t>
            </a:r>
            <a:r>
              <a:rPr lang="en-IN" sz="1700" dirty="0">
                <a:latin typeface="Times New Roman" panose="02020603050405020304" pitchFamily="18" charset="0"/>
                <a:ea typeface="Calibri" panose="020F0502020204030204" pitchFamily="34" charset="0"/>
                <a:cs typeface="Times New Roman" panose="02020603050405020304" pitchFamily="18" charset="0"/>
              </a:rPr>
              <a:t>Christine Le, “</a:t>
            </a:r>
            <a:r>
              <a:rPr lang="en-US" sz="1700" dirty="0">
                <a:latin typeface="Times New Roman" panose="02020603050405020304" pitchFamily="18" charset="0"/>
                <a:cs typeface="Times New Roman" panose="02020603050405020304" pitchFamily="18" charset="0"/>
              </a:rPr>
              <a:t>Experimental and numerical investigation of 3D-Printed bone plates under four-point bending load utilizing machine learning techniques” </a:t>
            </a:r>
            <a:r>
              <a:rPr lang="en-IN" sz="17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6"/>
              </a:rPr>
              <a:t>www.elsevier.com/locate/jmbbm</a:t>
            </a:r>
            <a:r>
              <a:rPr lang="en-IN" sz="17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50000"/>
              </a:lnSpc>
            </a:pP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[6] </a:t>
            </a:r>
            <a:r>
              <a:rPr lang="en-IN" sz="1700" dirty="0">
                <a:latin typeface="Times New Roman" panose="02020603050405020304" pitchFamily="18" charset="0"/>
                <a:ea typeface="Calibri" panose="020F0502020204030204" pitchFamily="34" charset="0"/>
                <a:cs typeface="Times New Roman" panose="02020603050405020304" pitchFamily="18" charset="0"/>
              </a:rPr>
              <a:t>Wenzhao Wang, “</a:t>
            </a:r>
            <a:r>
              <a:rPr lang="en-US" sz="1700" dirty="0">
                <a:latin typeface="Times New Roman" panose="02020603050405020304" pitchFamily="18" charset="0"/>
                <a:cs typeface="Times New Roman" panose="02020603050405020304" pitchFamily="18" charset="0"/>
              </a:rPr>
              <a:t>3D printing of PLA/n-HA composite scaffolds with customized mechanical properties and biological functions for bone tissue engineering” </a:t>
            </a:r>
            <a:r>
              <a:rPr lang="en-IN" sz="17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6"/>
              </a:rPr>
              <a:t>www.elsevier.com/locate/jmbbm</a:t>
            </a:r>
            <a:r>
              <a:rPr lang="en-IN" sz="17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50000"/>
              </a:lnSpc>
            </a:pPr>
            <a:r>
              <a:rPr lang="en-IN" sz="1700" kern="100" dirty="0">
                <a:latin typeface="Times New Roman" panose="02020603050405020304" pitchFamily="18" charset="0"/>
                <a:ea typeface="Calibri" panose="020F0502020204030204" pitchFamily="34" charset="0"/>
                <a:cs typeface="Times New Roman" panose="02020603050405020304" pitchFamily="18" charset="0"/>
              </a:rPr>
              <a:t>[7] </a:t>
            </a:r>
            <a:r>
              <a:rPr lang="en-IN" sz="1700" dirty="0">
                <a:latin typeface="Times New Roman" panose="02020603050405020304" pitchFamily="18" charset="0"/>
                <a:ea typeface="Calibri" panose="020F0502020204030204" pitchFamily="34" charset="0"/>
                <a:cs typeface="Times New Roman" panose="02020603050405020304" pitchFamily="18" charset="0"/>
              </a:rPr>
              <a:t>Prairit Sharma, “</a:t>
            </a:r>
            <a:r>
              <a:rPr lang="en-US" sz="1700" dirty="0">
                <a:latin typeface="Times New Roman" panose="02020603050405020304" pitchFamily="18" charset="0"/>
                <a:cs typeface="Times New Roman" panose="02020603050405020304" pitchFamily="18" charset="0"/>
              </a:rPr>
              <a:t>Experimental and numerical investigation of 3D-Printed bone plates under four-point bending load utilizing machine learning techniques” </a:t>
            </a:r>
            <a:r>
              <a:rPr lang="en-IN" sz="1600" dirty="0">
                <a:hlinkClick r:id="rId6"/>
              </a:rPr>
              <a:t>www.elsevier.com/locate/jmbbm</a:t>
            </a:r>
            <a:r>
              <a:rPr lang="en-IN" sz="1600" dirty="0"/>
              <a:t> </a:t>
            </a:r>
            <a:endParaRPr lang="en-IN" sz="17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0109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7838</TotalTime>
  <Words>2468</Words>
  <Application>Microsoft Office PowerPoint</Application>
  <PresentationFormat>Widescreen</PresentationFormat>
  <Paragraphs>124</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Arial Narrow</vt:lpstr>
      <vt:lpstr>Calibri</vt:lpstr>
      <vt:lpstr>Calibri Light</vt:lpstr>
      <vt:lpstr>Courier New</vt:lpstr>
      <vt:lpstr>Times New Roman</vt:lpstr>
      <vt:lpstr>Wingdings</vt:lpstr>
      <vt:lpstr>Office Theme</vt:lpstr>
      <vt:lpstr>DAYANANDA SAGAR COLLEGE OF ENGINEERING Shavige Malleshwara Hills, Kumaraswamy Layout, Bangalore-560078 (An Autonomous Institute affiliated to VTU, Approved by AICTE &amp;ISO 9001: 2008 Certified) Accredited by National Assessment &amp; Accreditation Council (NAAC) with ‘A’ Grade Department of Mechanical Engineering                                                              </vt:lpstr>
      <vt:lpstr>Abstract :</vt:lpstr>
      <vt:lpstr>Introduction:</vt:lpstr>
      <vt:lpstr>Introduction:</vt:lpstr>
      <vt:lpstr>Literature survey :</vt:lpstr>
      <vt:lpstr>PowerPoint Presentation</vt:lpstr>
      <vt:lpstr>PowerPoint Presentation</vt:lpstr>
      <vt:lpstr>Objectives :</vt:lpstr>
      <vt:lpstr>Flow chart :</vt:lpstr>
      <vt:lpstr>PowerPoint Presentation</vt:lpstr>
      <vt:lpstr>PowerPoint Presentation</vt:lpstr>
      <vt:lpstr>MODELING</vt:lpstr>
      <vt:lpstr>Applications:</vt:lpstr>
      <vt:lpstr>EXPECTED OUTCOME OF THE PROJECT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DayanandaSagar College of Engineering Shavige Malleshwara Hills, Kumaraswamy Layout, Bangalore – 560 078. Accredited by National Assessment and Accreditation Council (NAAC) with ‘A’ grade Department of Mechanical Engineering</dc:title>
  <dc:creator>JADHAV</dc:creator>
  <cp:lastModifiedBy>Sudarshan N D</cp:lastModifiedBy>
  <cp:revision>61</cp:revision>
  <dcterms:created xsi:type="dcterms:W3CDTF">2016-09-03T05:16:26Z</dcterms:created>
  <dcterms:modified xsi:type="dcterms:W3CDTF">2024-01-04T05:20:08Z</dcterms:modified>
</cp:coreProperties>
</file>